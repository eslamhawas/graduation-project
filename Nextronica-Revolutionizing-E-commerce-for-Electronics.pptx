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Calibri" panose="020F0502020204030204" pitchFamily="34" charset="0"/>
      <p:regular r:id="rId11"/>
      <p:bold r:id="rId12"/>
      <p:italic r:id="rId13"/>
      <p:boldItalic r:id="rId14"/>
    </p:embeddedFont>
    <p:embeddedFont>
      <p:font typeface="Libre Baskerville" panose="02000000000000000000" pitchFamily="2" charset="0"/>
      <p:regular r:id="rId15"/>
    </p:embeddedFont>
    <p:embeddedFont>
      <p:font typeface="Open Sans" panose="020B0606030504020204" pitchFamily="3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8497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48007" y="906661"/>
            <a:ext cx="4990267" cy="6416159"/>
          </a:xfrm>
          <a:prstGeom prst="rect">
            <a:avLst/>
          </a:prstGeom>
        </p:spPr>
      </p:pic>
      <p:sp>
        <p:nvSpPr>
          <p:cNvPr id="4" name="Text 0"/>
          <p:cNvSpPr/>
          <p:nvPr/>
        </p:nvSpPr>
        <p:spPr>
          <a:xfrm>
            <a:off x="6280190" y="2393275"/>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403CCF"/>
                </a:solidFill>
                <a:latin typeface="Libre Baskerville" pitchFamily="34" charset="0"/>
                <a:ea typeface="Libre Baskerville" pitchFamily="34" charset="-122"/>
                <a:cs typeface="Libre Baskerville" pitchFamily="34" charset="-120"/>
              </a:rPr>
              <a:t>Nextronica: Revolutionizing E-commerce for Electronics</a:t>
            </a:r>
            <a:endParaRPr lang="en-US" sz="3900" dirty="0"/>
          </a:p>
        </p:txBody>
      </p:sp>
      <p:sp>
        <p:nvSpPr>
          <p:cNvPr id="5" name="Text 1"/>
          <p:cNvSpPr/>
          <p:nvPr/>
        </p:nvSpPr>
        <p:spPr>
          <a:xfrm>
            <a:off x="6280190" y="3931087"/>
            <a:ext cx="7556421" cy="1905238"/>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Welcome to Nextronica, an innovative e-commerce platform designed to streamline the shopping experience for electronics. Our mission is to connect users with a diverse range of products from various sellers, ensuring transparency in pricing and a seamless path from browsing to checkout. This presentation will delve into the core functionalities, technical architecture, and the dedicated team behind Nextronica.</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657600" cy="8229600"/>
          </a:xfrm>
          <a:prstGeom prst="rect">
            <a:avLst/>
          </a:prstGeom>
        </p:spPr>
      </p:pic>
      <p:sp>
        <p:nvSpPr>
          <p:cNvPr id="3" name="Text 0"/>
          <p:cNvSpPr/>
          <p:nvPr/>
        </p:nvSpPr>
        <p:spPr>
          <a:xfrm>
            <a:off x="4451390" y="1011436"/>
            <a:ext cx="6752392" cy="620078"/>
          </a:xfrm>
          <a:prstGeom prst="rect">
            <a:avLst/>
          </a:prstGeom>
          <a:noFill/>
          <a:ln/>
        </p:spPr>
        <p:txBody>
          <a:bodyPr wrap="none" lIns="0" tIns="0" rIns="0" bIns="0" rtlCol="0" anchor="t"/>
          <a:lstStyle/>
          <a:p>
            <a:pPr marL="0" indent="0" algn="l">
              <a:lnSpc>
                <a:spcPts val="4850"/>
              </a:lnSpc>
              <a:buNone/>
            </a:pPr>
            <a:r>
              <a:rPr lang="en-US" sz="3900" dirty="0">
                <a:solidFill>
                  <a:srgbClr val="403CCF"/>
                </a:solidFill>
                <a:latin typeface="Libre Baskerville" pitchFamily="34" charset="0"/>
                <a:ea typeface="Libre Baskerville" pitchFamily="34" charset="-122"/>
                <a:cs typeface="Libre Baskerville" pitchFamily="34" charset="-120"/>
              </a:rPr>
              <a:t>Meet the Nextronica Team</a:t>
            </a:r>
            <a:endParaRPr lang="en-US" sz="3900" dirty="0"/>
          </a:p>
        </p:txBody>
      </p:sp>
      <p:pic>
        <p:nvPicPr>
          <p:cNvPr id="4" name="Image 1" descr="preencoded.png"/>
          <p:cNvPicPr>
            <a:picLocks noChangeAspect="1"/>
          </p:cNvPicPr>
          <p:nvPr/>
        </p:nvPicPr>
        <p:blipFill>
          <a:blip r:embed="rId4"/>
          <a:stretch>
            <a:fillRect/>
          </a:stretch>
        </p:blipFill>
        <p:spPr>
          <a:xfrm>
            <a:off x="4451390" y="1929170"/>
            <a:ext cx="496133" cy="496133"/>
          </a:xfrm>
          <a:prstGeom prst="rect">
            <a:avLst/>
          </a:prstGeom>
        </p:spPr>
      </p:pic>
      <p:sp>
        <p:nvSpPr>
          <p:cNvPr id="5" name="Text 1"/>
          <p:cNvSpPr/>
          <p:nvPr/>
        </p:nvSpPr>
        <p:spPr>
          <a:xfrm>
            <a:off x="4451390" y="267331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Eslam Hawas</a:t>
            </a:r>
            <a:endParaRPr lang="en-US" sz="1950" dirty="0"/>
          </a:p>
        </p:txBody>
      </p:sp>
      <p:sp>
        <p:nvSpPr>
          <p:cNvPr id="6" name="Text 2"/>
          <p:cNvSpPr/>
          <p:nvPr/>
        </p:nvSpPr>
        <p:spPr>
          <a:xfrm>
            <a:off x="4451390" y="3102531"/>
            <a:ext cx="2962989" cy="317540"/>
          </a:xfrm>
          <a:prstGeom prst="rect">
            <a:avLst/>
          </a:prstGeom>
          <a:noFill/>
          <a:ln/>
        </p:spPr>
        <p:txBody>
          <a:bodyPr wrap="non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Lead Developer</a:t>
            </a:r>
            <a:endParaRPr lang="en-US" sz="1550" dirty="0"/>
          </a:p>
        </p:txBody>
      </p:sp>
      <p:pic>
        <p:nvPicPr>
          <p:cNvPr id="7" name="Image 2" descr="preencoded.png"/>
          <p:cNvPicPr>
            <a:picLocks noChangeAspect="1"/>
          </p:cNvPicPr>
          <p:nvPr/>
        </p:nvPicPr>
        <p:blipFill>
          <a:blip r:embed="rId5"/>
          <a:stretch>
            <a:fillRect/>
          </a:stretch>
        </p:blipFill>
        <p:spPr>
          <a:xfrm>
            <a:off x="7662386" y="1929170"/>
            <a:ext cx="496133" cy="496133"/>
          </a:xfrm>
          <a:prstGeom prst="rect">
            <a:avLst/>
          </a:prstGeom>
        </p:spPr>
      </p:pic>
      <p:sp>
        <p:nvSpPr>
          <p:cNvPr id="8" name="Text 3"/>
          <p:cNvSpPr/>
          <p:nvPr/>
        </p:nvSpPr>
        <p:spPr>
          <a:xfrm>
            <a:off x="7662386" y="267331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Mohamed Said</a:t>
            </a:r>
            <a:endParaRPr lang="en-US" sz="1950" dirty="0"/>
          </a:p>
        </p:txBody>
      </p:sp>
      <p:sp>
        <p:nvSpPr>
          <p:cNvPr id="9" name="Text 4"/>
          <p:cNvSpPr/>
          <p:nvPr/>
        </p:nvSpPr>
        <p:spPr>
          <a:xfrm>
            <a:off x="7662386" y="3102531"/>
            <a:ext cx="2963108" cy="317540"/>
          </a:xfrm>
          <a:prstGeom prst="rect">
            <a:avLst/>
          </a:prstGeom>
          <a:noFill/>
          <a:ln/>
        </p:spPr>
        <p:txBody>
          <a:bodyPr wrap="non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Frontend Developer</a:t>
            </a:r>
            <a:endParaRPr lang="en-US" sz="1550" dirty="0"/>
          </a:p>
        </p:txBody>
      </p:sp>
      <p:pic>
        <p:nvPicPr>
          <p:cNvPr id="10" name="Image 3" descr="preencoded.png"/>
          <p:cNvPicPr>
            <a:picLocks noChangeAspect="1"/>
          </p:cNvPicPr>
          <p:nvPr/>
        </p:nvPicPr>
        <p:blipFill>
          <a:blip r:embed="rId6"/>
          <a:stretch>
            <a:fillRect/>
          </a:stretch>
        </p:blipFill>
        <p:spPr>
          <a:xfrm>
            <a:off x="10873502" y="1929170"/>
            <a:ext cx="496133" cy="496133"/>
          </a:xfrm>
          <a:prstGeom prst="rect">
            <a:avLst/>
          </a:prstGeom>
        </p:spPr>
      </p:pic>
      <p:sp>
        <p:nvSpPr>
          <p:cNvPr id="11" name="Text 5"/>
          <p:cNvSpPr/>
          <p:nvPr/>
        </p:nvSpPr>
        <p:spPr>
          <a:xfrm>
            <a:off x="10873502" y="267331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Mariam Faried</a:t>
            </a:r>
            <a:endParaRPr lang="en-US" sz="1950" dirty="0"/>
          </a:p>
        </p:txBody>
      </p:sp>
      <p:sp>
        <p:nvSpPr>
          <p:cNvPr id="12" name="Text 6"/>
          <p:cNvSpPr/>
          <p:nvPr/>
        </p:nvSpPr>
        <p:spPr>
          <a:xfrm>
            <a:off x="10873502" y="3102531"/>
            <a:ext cx="2962989" cy="317540"/>
          </a:xfrm>
          <a:prstGeom prst="rect">
            <a:avLst/>
          </a:prstGeom>
          <a:noFill/>
          <a:ln/>
        </p:spPr>
        <p:txBody>
          <a:bodyPr wrap="non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Frontend Developer</a:t>
            </a:r>
            <a:endParaRPr lang="en-US" sz="1550" dirty="0"/>
          </a:p>
        </p:txBody>
      </p:sp>
      <p:pic>
        <p:nvPicPr>
          <p:cNvPr id="13" name="Image 4" descr="preencoded.png"/>
          <p:cNvPicPr>
            <a:picLocks noChangeAspect="1"/>
          </p:cNvPicPr>
          <p:nvPr/>
        </p:nvPicPr>
        <p:blipFill>
          <a:blip r:embed="rId7"/>
          <a:stretch>
            <a:fillRect/>
          </a:stretch>
        </p:blipFill>
        <p:spPr>
          <a:xfrm>
            <a:off x="4451390" y="3916204"/>
            <a:ext cx="496133" cy="496133"/>
          </a:xfrm>
          <a:prstGeom prst="rect">
            <a:avLst/>
          </a:prstGeom>
        </p:spPr>
      </p:pic>
      <p:sp>
        <p:nvSpPr>
          <p:cNvPr id="14" name="Text 7"/>
          <p:cNvSpPr/>
          <p:nvPr/>
        </p:nvSpPr>
        <p:spPr>
          <a:xfrm>
            <a:off x="4451390" y="466034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Jana Mourad</a:t>
            </a:r>
            <a:endParaRPr lang="en-US" sz="1950" dirty="0"/>
          </a:p>
        </p:txBody>
      </p:sp>
      <p:sp>
        <p:nvSpPr>
          <p:cNvPr id="15" name="Text 8"/>
          <p:cNvSpPr/>
          <p:nvPr/>
        </p:nvSpPr>
        <p:spPr>
          <a:xfrm>
            <a:off x="4451390" y="5089565"/>
            <a:ext cx="2962989" cy="317540"/>
          </a:xfrm>
          <a:prstGeom prst="rect">
            <a:avLst/>
          </a:prstGeom>
          <a:noFill/>
          <a:ln/>
        </p:spPr>
        <p:txBody>
          <a:bodyPr wrap="non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Backend Developer</a:t>
            </a:r>
            <a:endParaRPr lang="en-US" sz="1550" dirty="0"/>
          </a:p>
        </p:txBody>
      </p:sp>
      <p:pic>
        <p:nvPicPr>
          <p:cNvPr id="16" name="Image 5" descr="preencoded.png"/>
          <p:cNvPicPr>
            <a:picLocks noChangeAspect="1"/>
          </p:cNvPicPr>
          <p:nvPr/>
        </p:nvPicPr>
        <p:blipFill>
          <a:blip r:embed="rId7"/>
          <a:stretch>
            <a:fillRect/>
          </a:stretch>
        </p:blipFill>
        <p:spPr>
          <a:xfrm>
            <a:off x="7662386" y="3916204"/>
            <a:ext cx="496133" cy="496133"/>
          </a:xfrm>
          <a:prstGeom prst="rect">
            <a:avLst/>
          </a:prstGeom>
        </p:spPr>
      </p:pic>
      <p:sp>
        <p:nvSpPr>
          <p:cNvPr id="17" name="Text 9"/>
          <p:cNvSpPr/>
          <p:nvPr/>
        </p:nvSpPr>
        <p:spPr>
          <a:xfrm>
            <a:off x="7662386" y="466034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Halima Ramadan </a:t>
            </a:r>
            <a:endParaRPr lang="en-US" sz="1950" dirty="0"/>
          </a:p>
        </p:txBody>
      </p:sp>
      <p:sp>
        <p:nvSpPr>
          <p:cNvPr id="18" name="Text 10"/>
          <p:cNvSpPr/>
          <p:nvPr/>
        </p:nvSpPr>
        <p:spPr>
          <a:xfrm>
            <a:off x="7662386" y="5089565"/>
            <a:ext cx="2963108" cy="317540"/>
          </a:xfrm>
          <a:prstGeom prst="rect">
            <a:avLst/>
          </a:prstGeom>
          <a:noFill/>
          <a:ln/>
        </p:spPr>
        <p:txBody>
          <a:bodyPr wrap="non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Backend Developer</a:t>
            </a:r>
            <a:endParaRPr lang="en-US" sz="1550" dirty="0"/>
          </a:p>
        </p:txBody>
      </p:sp>
      <p:pic>
        <p:nvPicPr>
          <p:cNvPr id="19" name="Image 6" descr="preencoded.png"/>
          <p:cNvPicPr>
            <a:picLocks noChangeAspect="1"/>
          </p:cNvPicPr>
          <p:nvPr/>
        </p:nvPicPr>
        <p:blipFill>
          <a:blip r:embed="rId4"/>
          <a:stretch>
            <a:fillRect/>
          </a:stretch>
        </p:blipFill>
        <p:spPr>
          <a:xfrm>
            <a:off x="10873502" y="3916204"/>
            <a:ext cx="496133" cy="496133"/>
          </a:xfrm>
          <a:prstGeom prst="rect">
            <a:avLst/>
          </a:prstGeom>
        </p:spPr>
      </p:pic>
      <p:sp>
        <p:nvSpPr>
          <p:cNvPr id="20" name="Text 11"/>
          <p:cNvSpPr/>
          <p:nvPr/>
        </p:nvSpPr>
        <p:spPr>
          <a:xfrm>
            <a:off x="10873502" y="466034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Mostafa Mohdy</a:t>
            </a:r>
            <a:endParaRPr lang="en-US" sz="1950" dirty="0"/>
          </a:p>
        </p:txBody>
      </p:sp>
      <p:sp>
        <p:nvSpPr>
          <p:cNvPr id="21" name="Text 12"/>
          <p:cNvSpPr/>
          <p:nvPr/>
        </p:nvSpPr>
        <p:spPr>
          <a:xfrm>
            <a:off x="10873502" y="5089565"/>
            <a:ext cx="2962989" cy="317540"/>
          </a:xfrm>
          <a:prstGeom prst="rect">
            <a:avLst/>
          </a:prstGeom>
          <a:noFill/>
          <a:ln/>
        </p:spPr>
        <p:txBody>
          <a:bodyPr wrap="non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Backend Developer</a:t>
            </a:r>
            <a:endParaRPr lang="en-US" sz="1550" dirty="0"/>
          </a:p>
        </p:txBody>
      </p:sp>
      <p:sp>
        <p:nvSpPr>
          <p:cNvPr id="22" name="Text 13"/>
          <p:cNvSpPr/>
          <p:nvPr/>
        </p:nvSpPr>
        <p:spPr>
          <a:xfrm>
            <a:off x="4451390" y="5630347"/>
            <a:ext cx="9385221" cy="1587698"/>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The Nextronica project is driven by a talented team of computer science professionals. Our backend development is spearheaded by Mostafa Mohdy, alongside Eslam Hawas, Jana Mourad, and Halima Ramadan, ensuring robust and scalable server-side operations. On the frontend, Mohamed Said and Mariam Faried are crafting an intuitive and engaging user interface, working collaboratively to bring a high-quality product to life.</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52826"/>
            <a:ext cx="7801808" cy="620078"/>
          </a:xfrm>
          <a:prstGeom prst="rect">
            <a:avLst/>
          </a:prstGeom>
          <a:noFill/>
          <a:ln/>
        </p:spPr>
        <p:txBody>
          <a:bodyPr wrap="none" lIns="0" tIns="0" rIns="0" bIns="0" rtlCol="0" anchor="t"/>
          <a:lstStyle/>
          <a:p>
            <a:pPr marL="0" indent="0" algn="l">
              <a:lnSpc>
                <a:spcPts val="4850"/>
              </a:lnSpc>
              <a:buNone/>
            </a:pPr>
            <a:r>
              <a:rPr lang="en-US" sz="3900" dirty="0">
                <a:solidFill>
                  <a:srgbClr val="403CCF"/>
                </a:solidFill>
                <a:latin typeface="Libre Baskerville" pitchFamily="34" charset="0"/>
                <a:ea typeface="Libre Baskerville" pitchFamily="34" charset="-122"/>
                <a:cs typeface="Libre Baskerville" pitchFamily="34" charset="-120"/>
              </a:rPr>
              <a:t>Nextronica Platform Overview</a:t>
            </a:r>
            <a:endParaRPr lang="en-US" sz="3900" dirty="0"/>
          </a:p>
        </p:txBody>
      </p:sp>
      <p:sp>
        <p:nvSpPr>
          <p:cNvPr id="3" name="Shape 1"/>
          <p:cNvSpPr/>
          <p:nvPr/>
        </p:nvSpPr>
        <p:spPr>
          <a:xfrm>
            <a:off x="793790" y="2669738"/>
            <a:ext cx="4215289" cy="2731175"/>
          </a:xfrm>
          <a:prstGeom prst="roundRect">
            <a:avLst>
              <a:gd name="adj" fmla="val 1090"/>
            </a:avLst>
          </a:prstGeom>
          <a:solidFill>
            <a:srgbClr val="EAE8F3"/>
          </a:solidFill>
          <a:ln/>
        </p:spPr>
      </p:sp>
      <p:sp>
        <p:nvSpPr>
          <p:cNvPr id="4" name="Text 2"/>
          <p:cNvSpPr/>
          <p:nvPr/>
        </p:nvSpPr>
        <p:spPr>
          <a:xfrm>
            <a:off x="992148" y="286809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Product Browsing</a:t>
            </a:r>
            <a:endParaRPr lang="en-US" sz="1950" dirty="0"/>
          </a:p>
        </p:txBody>
      </p:sp>
      <p:sp>
        <p:nvSpPr>
          <p:cNvPr id="5" name="Text 3"/>
          <p:cNvSpPr/>
          <p:nvPr/>
        </p:nvSpPr>
        <p:spPr>
          <a:xfrm>
            <a:off x="992148" y="3297317"/>
            <a:ext cx="3818573" cy="1587698"/>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Users can explore a wide array of electronic products sourced from multiple sellers, providing a diverse selection to meet various needs and preferences.</a:t>
            </a:r>
            <a:endParaRPr lang="en-US" sz="1550" dirty="0"/>
          </a:p>
        </p:txBody>
      </p:sp>
      <p:sp>
        <p:nvSpPr>
          <p:cNvPr id="6" name="Shape 4"/>
          <p:cNvSpPr/>
          <p:nvPr/>
        </p:nvSpPr>
        <p:spPr>
          <a:xfrm>
            <a:off x="5207437" y="2669738"/>
            <a:ext cx="4215408" cy="2731175"/>
          </a:xfrm>
          <a:prstGeom prst="roundRect">
            <a:avLst>
              <a:gd name="adj" fmla="val 1090"/>
            </a:avLst>
          </a:prstGeom>
          <a:solidFill>
            <a:srgbClr val="EAE8F3"/>
          </a:solidFill>
          <a:ln/>
        </p:spPr>
      </p:sp>
      <p:sp>
        <p:nvSpPr>
          <p:cNvPr id="7" name="Text 5"/>
          <p:cNvSpPr/>
          <p:nvPr/>
        </p:nvSpPr>
        <p:spPr>
          <a:xfrm>
            <a:off x="5405795" y="2868097"/>
            <a:ext cx="2529959"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Transparent Pricing</a:t>
            </a:r>
            <a:endParaRPr lang="en-US" sz="1950" dirty="0"/>
          </a:p>
        </p:txBody>
      </p:sp>
      <p:sp>
        <p:nvSpPr>
          <p:cNvPr id="8" name="Text 6"/>
          <p:cNvSpPr/>
          <p:nvPr/>
        </p:nvSpPr>
        <p:spPr>
          <a:xfrm>
            <a:off x="5405795" y="3297317"/>
            <a:ext cx="3818692" cy="1905238"/>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Each product displays a clear price that includes Nextronica’s profit margin and any current promotions offered by the admin for a specific provider at a specific product , ensuring full transparency for the user.</a:t>
            </a:r>
            <a:endParaRPr lang="en-US" sz="1550" dirty="0"/>
          </a:p>
        </p:txBody>
      </p:sp>
      <p:sp>
        <p:nvSpPr>
          <p:cNvPr id="9" name="Shape 7"/>
          <p:cNvSpPr/>
          <p:nvPr/>
        </p:nvSpPr>
        <p:spPr>
          <a:xfrm>
            <a:off x="9621203" y="2669738"/>
            <a:ext cx="4215289" cy="2731175"/>
          </a:xfrm>
          <a:prstGeom prst="roundRect">
            <a:avLst>
              <a:gd name="adj" fmla="val 1090"/>
            </a:avLst>
          </a:prstGeom>
          <a:solidFill>
            <a:srgbClr val="EAE8F3"/>
          </a:solidFill>
          <a:ln/>
        </p:spPr>
      </p:sp>
      <p:sp>
        <p:nvSpPr>
          <p:cNvPr id="10" name="Text 8"/>
          <p:cNvSpPr/>
          <p:nvPr/>
        </p:nvSpPr>
        <p:spPr>
          <a:xfrm>
            <a:off x="9819561" y="286809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Personalized Cart</a:t>
            </a:r>
            <a:endParaRPr lang="en-US" sz="1950" dirty="0"/>
          </a:p>
        </p:txBody>
      </p:sp>
      <p:sp>
        <p:nvSpPr>
          <p:cNvPr id="11" name="Text 9"/>
          <p:cNvSpPr/>
          <p:nvPr/>
        </p:nvSpPr>
        <p:spPr>
          <a:xfrm>
            <a:off x="9819561" y="3297317"/>
            <a:ext cx="3818573" cy="1905238"/>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Users have the flexibility to select the best product options and add them to their personal shopping cart. This cart persists across sessions, allowing for a convenient and continuous shopping journey until final checkout.</a:t>
            </a:r>
            <a:endParaRPr lang="en-US" sz="1550" dirty="0"/>
          </a:p>
        </p:txBody>
      </p:sp>
      <p:sp>
        <p:nvSpPr>
          <p:cNvPr id="12" name="Text 10"/>
          <p:cNvSpPr/>
          <p:nvPr/>
        </p:nvSpPr>
        <p:spPr>
          <a:xfrm>
            <a:off x="793790" y="5624155"/>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Nextronica is designed to offer a comprehensive and user-friendly experience for electronics shopping. Our platform aggregates products from various sellers, presenting them with clear, all-inclusive pricing. This approach simplifies the decision-making process for users, who can then easily manage their selections within a persistent shopping cart, ready for checkout at their convenience.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5781" y="674846"/>
            <a:ext cx="7625239" cy="1186577"/>
          </a:xfrm>
          <a:prstGeom prst="rect">
            <a:avLst/>
          </a:prstGeom>
          <a:noFill/>
          <a:ln/>
        </p:spPr>
        <p:txBody>
          <a:bodyPr wrap="square" lIns="0" tIns="0" rIns="0" bIns="0" rtlCol="0" anchor="t"/>
          <a:lstStyle/>
          <a:p>
            <a:pPr marL="0" indent="0" algn="l">
              <a:lnSpc>
                <a:spcPts val="4650"/>
              </a:lnSpc>
              <a:buNone/>
            </a:pPr>
            <a:r>
              <a:rPr lang="en-US" sz="3700" dirty="0">
                <a:solidFill>
                  <a:srgbClr val="403CCF"/>
                </a:solidFill>
                <a:latin typeface="Libre Baskerville" pitchFamily="34" charset="0"/>
                <a:ea typeface="Libre Baskerville" pitchFamily="34" charset="-122"/>
                <a:cs typeface="Libre Baskerville" pitchFamily="34" charset="-120"/>
              </a:rPr>
              <a:t>Seamless User Flow &amp; Persistent Cart System</a:t>
            </a:r>
            <a:endParaRPr lang="en-US" sz="3700" dirty="0"/>
          </a:p>
        </p:txBody>
      </p:sp>
      <p:pic>
        <p:nvPicPr>
          <p:cNvPr id="4" name="Image 1" descr="preencoded.png"/>
          <p:cNvPicPr>
            <a:picLocks noChangeAspect="1"/>
          </p:cNvPicPr>
          <p:nvPr/>
        </p:nvPicPr>
        <p:blipFill>
          <a:blip r:embed="rId4"/>
          <a:stretch>
            <a:fillRect/>
          </a:stretch>
        </p:blipFill>
        <p:spPr>
          <a:xfrm>
            <a:off x="6245781" y="2146102"/>
            <a:ext cx="949285" cy="1139071"/>
          </a:xfrm>
          <a:prstGeom prst="rect">
            <a:avLst/>
          </a:prstGeom>
        </p:spPr>
      </p:pic>
      <p:sp>
        <p:nvSpPr>
          <p:cNvPr id="5" name="Text 1"/>
          <p:cNvSpPr/>
          <p:nvPr/>
        </p:nvSpPr>
        <p:spPr>
          <a:xfrm>
            <a:off x="7384852" y="2335887"/>
            <a:ext cx="2373154" cy="296585"/>
          </a:xfrm>
          <a:prstGeom prst="rect">
            <a:avLst/>
          </a:prstGeom>
          <a:noFill/>
          <a:ln/>
        </p:spPr>
        <p:txBody>
          <a:bodyPr wrap="none" lIns="0" tIns="0" rIns="0" bIns="0" rtlCol="0" anchor="t"/>
          <a:lstStyle/>
          <a:p>
            <a:pPr marL="0" indent="0" algn="l">
              <a:lnSpc>
                <a:spcPts val="2300"/>
              </a:lnSpc>
              <a:buNone/>
            </a:pPr>
            <a:r>
              <a:rPr lang="en-US" sz="1850" dirty="0">
                <a:solidFill>
                  <a:srgbClr val="49495A"/>
                </a:solidFill>
                <a:latin typeface="Libre Baskerville" pitchFamily="34" charset="0"/>
                <a:ea typeface="Libre Baskerville" pitchFamily="34" charset="-122"/>
                <a:cs typeface="Libre Baskerville" pitchFamily="34" charset="-120"/>
              </a:rPr>
              <a:t>Add Items</a:t>
            </a:r>
            <a:endParaRPr lang="en-US" sz="1850" dirty="0"/>
          </a:p>
        </p:txBody>
      </p:sp>
      <p:sp>
        <p:nvSpPr>
          <p:cNvPr id="6" name="Text 2"/>
          <p:cNvSpPr/>
          <p:nvPr/>
        </p:nvSpPr>
        <p:spPr>
          <a:xfrm>
            <a:off x="7384852" y="2746296"/>
            <a:ext cx="6486168" cy="303848"/>
          </a:xfrm>
          <a:prstGeom prst="rect">
            <a:avLst/>
          </a:prstGeom>
          <a:noFill/>
          <a:ln/>
        </p:spPr>
        <p:txBody>
          <a:bodyPr wrap="none" lIns="0" tIns="0" rIns="0" bIns="0" rtlCol="0" anchor="t"/>
          <a:lstStyle/>
          <a:p>
            <a:pPr marL="0" indent="0" algn="l">
              <a:lnSpc>
                <a:spcPts val="2350"/>
              </a:lnSpc>
              <a:buNone/>
            </a:pPr>
            <a:r>
              <a:rPr lang="en-US" sz="1450" dirty="0">
                <a:solidFill>
                  <a:srgbClr val="49495A"/>
                </a:solidFill>
                <a:latin typeface="Open Sans" pitchFamily="34" charset="0"/>
                <a:ea typeface="Open Sans" pitchFamily="34" charset="-122"/>
                <a:cs typeface="Open Sans" pitchFamily="34" charset="-120"/>
              </a:rPr>
              <a:t>Effortlessly add desired products to your shopping cart.</a:t>
            </a:r>
            <a:endParaRPr lang="en-US" sz="1450" dirty="0"/>
          </a:p>
        </p:txBody>
      </p:sp>
      <p:pic>
        <p:nvPicPr>
          <p:cNvPr id="7" name="Image 2" descr="preencoded.png"/>
          <p:cNvPicPr>
            <a:picLocks noChangeAspect="1"/>
          </p:cNvPicPr>
          <p:nvPr/>
        </p:nvPicPr>
        <p:blipFill>
          <a:blip r:embed="rId5"/>
          <a:stretch>
            <a:fillRect/>
          </a:stretch>
        </p:blipFill>
        <p:spPr>
          <a:xfrm>
            <a:off x="6245781" y="3285173"/>
            <a:ext cx="949285" cy="1139071"/>
          </a:xfrm>
          <a:prstGeom prst="rect">
            <a:avLst/>
          </a:prstGeom>
        </p:spPr>
      </p:pic>
      <p:sp>
        <p:nvSpPr>
          <p:cNvPr id="8" name="Text 3"/>
          <p:cNvSpPr/>
          <p:nvPr/>
        </p:nvSpPr>
        <p:spPr>
          <a:xfrm>
            <a:off x="7384852" y="3474958"/>
            <a:ext cx="2373154" cy="296585"/>
          </a:xfrm>
          <a:prstGeom prst="rect">
            <a:avLst/>
          </a:prstGeom>
          <a:noFill/>
          <a:ln/>
        </p:spPr>
        <p:txBody>
          <a:bodyPr wrap="none" lIns="0" tIns="0" rIns="0" bIns="0" rtlCol="0" anchor="t"/>
          <a:lstStyle/>
          <a:p>
            <a:pPr marL="0" indent="0" algn="l">
              <a:lnSpc>
                <a:spcPts val="2300"/>
              </a:lnSpc>
              <a:buNone/>
            </a:pPr>
            <a:r>
              <a:rPr lang="en-US" sz="1850" dirty="0">
                <a:solidFill>
                  <a:srgbClr val="49495A"/>
                </a:solidFill>
                <a:latin typeface="Libre Baskerville" pitchFamily="34" charset="0"/>
                <a:ea typeface="Libre Baskerville" pitchFamily="34" charset="-122"/>
                <a:cs typeface="Libre Baskerville" pitchFamily="34" charset="-120"/>
              </a:rPr>
              <a:t>Manage Cart</a:t>
            </a:r>
            <a:endParaRPr lang="en-US" sz="1850" dirty="0"/>
          </a:p>
        </p:txBody>
      </p:sp>
      <p:sp>
        <p:nvSpPr>
          <p:cNvPr id="9" name="Text 4"/>
          <p:cNvSpPr/>
          <p:nvPr/>
        </p:nvSpPr>
        <p:spPr>
          <a:xfrm>
            <a:off x="7384852" y="3885367"/>
            <a:ext cx="6486168" cy="303848"/>
          </a:xfrm>
          <a:prstGeom prst="rect">
            <a:avLst/>
          </a:prstGeom>
          <a:noFill/>
          <a:ln/>
        </p:spPr>
        <p:txBody>
          <a:bodyPr wrap="none" lIns="0" tIns="0" rIns="0" bIns="0" rtlCol="0" anchor="t"/>
          <a:lstStyle/>
          <a:p>
            <a:pPr marL="0" indent="0" algn="l">
              <a:lnSpc>
                <a:spcPts val="2350"/>
              </a:lnSpc>
              <a:buNone/>
            </a:pPr>
            <a:r>
              <a:rPr lang="en-US" sz="1450" dirty="0">
                <a:solidFill>
                  <a:srgbClr val="49495A"/>
                </a:solidFill>
                <a:latin typeface="Open Sans" pitchFamily="34" charset="0"/>
                <a:ea typeface="Open Sans" pitchFamily="34" charset="-122"/>
                <a:cs typeface="Open Sans" pitchFamily="34" charset="-120"/>
              </a:rPr>
              <a:t>Update quantities or remove items with ease.</a:t>
            </a:r>
            <a:endParaRPr lang="en-US" sz="1450" dirty="0"/>
          </a:p>
        </p:txBody>
      </p:sp>
      <p:pic>
        <p:nvPicPr>
          <p:cNvPr id="10" name="Image 3" descr="preencoded.png"/>
          <p:cNvPicPr>
            <a:picLocks noChangeAspect="1"/>
          </p:cNvPicPr>
          <p:nvPr/>
        </p:nvPicPr>
        <p:blipFill>
          <a:blip r:embed="rId6"/>
          <a:stretch>
            <a:fillRect/>
          </a:stretch>
        </p:blipFill>
        <p:spPr>
          <a:xfrm>
            <a:off x="6245781" y="4424243"/>
            <a:ext cx="949285" cy="1397675"/>
          </a:xfrm>
          <a:prstGeom prst="rect">
            <a:avLst/>
          </a:prstGeom>
        </p:spPr>
      </p:pic>
      <p:sp>
        <p:nvSpPr>
          <p:cNvPr id="11" name="Text 5"/>
          <p:cNvSpPr/>
          <p:nvPr/>
        </p:nvSpPr>
        <p:spPr>
          <a:xfrm>
            <a:off x="7384852" y="4614029"/>
            <a:ext cx="2373154" cy="296585"/>
          </a:xfrm>
          <a:prstGeom prst="rect">
            <a:avLst/>
          </a:prstGeom>
          <a:noFill/>
          <a:ln/>
        </p:spPr>
        <p:txBody>
          <a:bodyPr wrap="none" lIns="0" tIns="0" rIns="0" bIns="0" rtlCol="0" anchor="t"/>
          <a:lstStyle/>
          <a:p>
            <a:pPr marL="0" indent="0" algn="l">
              <a:lnSpc>
                <a:spcPts val="2300"/>
              </a:lnSpc>
              <a:buNone/>
            </a:pPr>
            <a:r>
              <a:rPr lang="en-US" sz="1850" dirty="0">
                <a:solidFill>
                  <a:srgbClr val="49495A"/>
                </a:solidFill>
                <a:latin typeface="Libre Baskerville" pitchFamily="34" charset="0"/>
                <a:ea typeface="Libre Baskerville" pitchFamily="34" charset="-122"/>
                <a:cs typeface="Libre Baskerville" pitchFamily="34" charset="-120"/>
              </a:rPr>
              <a:t>Cart Persistence</a:t>
            </a:r>
            <a:endParaRPr lang="en-US" sz="1850" dirty="0"/>
          </a:p>
        </p:txBody>
      </p:sp>
      <p:sp>
        <p:nvSpPr>
          <p:cNvPr id="12" name="Text 6"/>
          <p:cNvSpPr/>
          <p:nvPr/>
        </p:nvSpPr>
        <p:spPr>
          <a:xfrm>
            <a:off x="7384852" y="5024438"/>
            <a:ext cx="6486168" cy="607695"/>
          </a:xfrm>
          <a:prstGeom prst="rect">
            <a:avLst/>
          </a:prstGeom>
          <a:noFill/>
          <a:ln/>
        </p:spPr>
        <p:txBody>
          <a:bodyPr wrap="square" lIns="0" tIns="0" rIns="0" bIns="0" rtlCol="0" anchor="t"/>
          <a:lstStyle/>
          <a:p>
            <a:pPr marL="0" indent="0" algn="l">
              <a:lnSpc>
                <a:spcPts val="2350"/>
              </a:lnSpc>
              <a:buNone/>
            </a:pPr>
            <a:r>
              <a:rPr lang="en-US" sz="1450" dirty="0">
                <a:solidFill>
                  <a:srgbClr val="49495A"/>
                </a:solidFill>
                <a:latin typeface="Open Sans" pitchFamily="34" charset="0"/>
                <a:ea typeface="Open Sans" pitchFamily="34" charset="-122"/>
                <a:cs typeface="Open Sans" pitchFamily="34" charset="-120"/>
              </a:rPr>
              <a:t>Leave the app and return to find your cart exactly as you left it, ready for continued shopping.</a:t>
            </a:r>
            <a:endParaRPr lang="en-US" sz="1450" dirty="0"/>
          </a:p>
        </p:txBody>
      </p:sp>
      <p:sp>
        <p:nvSpPr>
          <p:cNvPr id="13" name="Text 7"/>
          <p:cNvSpPr/>
          <p:nvPr/>
        </p:nvSpPr>
        <p:spPr>
          <a:xfrm>
            <a:off x="6245781" y="6035397"/>
            <a:ext cx="7625239" cy="1519238"/>
          </a:xfrm>
          <a:prstGeom prst="rect">
            <a:avLst/>
          </a:prstGeom>
          <a:noFill/>
          <a:ln/>
        </p:spPr>
        <p:txBody>
          <a:bodyPr wrap="square" lIns="0" tIns="0" rIns="0" bIns="0" rtlCol="0" anchor="t"/>
          <a:lstStyle/>
          <a:p>
            <a:pPr marL="0" indent="0" algn="l">
              <a:lnSpc>
                <a:spcPts val="2350"/>
              </a:lnSpc>
              <a:buNone/>
            </a:pPr>
            <a:r>
              <a:rPr lang="en-US" sz="1450" dirty="0">
                <a:solidFill>
                  <a:srgbClr val="49495A"/>
                </a:solidFill>
                <a:latin typeface="Open Sans" pitchFamily="34" charset="0"/>
                <a:ea typeface="Open Sans" pitchFamily="34" charset="-122"/>
                <a:cs typeface="Open Sans" pitchFamily="34" charset="-120"/>
              </a:rPr>
              <a:t>The Nextronica user experience is centered around convenience and continuity. Our robust cart system allows users to freely add, remove, and modify items in their cart. Crucially, the cart state is persistently saved, meaning users can exit the application and return later to find their selections intact. This ensures a truly seamless and uninterrupted shopping experience, from initial browsing to the final checkout.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443" y="473035"/>
            <a:ext cx="10722650" cy="535424"/>
          </a:xfrm>
          <a:prstGeom prst="rect">
            <a:avLst/>
          </a:prstGeom>
          <a:noFill/>
          <a:ln/>
        </p:spPr>
        <p:txBody>
          <a:bodyPr wrap="none" lIns="0" tIns="0" rIns="0" bIns="0" rtlCol="0" anchor="t"/>
          <a:lstStyle/>
          <a:p>
            <a:pPr marL="0" indent="0" algn="l">
              <a:lnSpc>
                <a:spcPts val="4200"/>
              </a:lnSpc>
              <a:buNone/>
            </a:pPr>
            <a:r>
              <a:rPr lang="en-US" sz="3350" dirty="0">
                <a:solidFill>
                  <a:srgbClr val="403CCF"/>
                </a:solidFill>
                <a:latin typeface="Libre Baskerville" pitchFamily="34" charset="0"/>
                <a:ea typeface="Libre Baskerville" pitchFamily="34" charset="-122"/>
                <a:cs typeface="Libre Baskerville" pitchFamily="34" charset="-120"/>
              </a:rPr>
              <a:t>Order Creation &amp; Provider Interaction Workflow</a:t>
            </a:r>
            <a:endParaRPr lang="en-US" sz="3350" dirty="0"/>
          </a:p>
        </p:txBody>
      </p:sp>
      <p:sp>
        <p:nvSpPr>
          <p:cNvPr id="3" name="Shape 1"/>
          <p:cNvSpPr/>
          <p:nvPr/>
        </p:nvSpPr>
        <p:spPr>
          <a:xfrm>
            <a:off x="7303770" y="1351121"/>
            <a:ext cx="22860" cy="5116354"/>
          </a:xfrm>
          <a:prstGeom prst="roundRect">
            <a:avLst>
              <a:gd name="adj" fmla="val 112446"/>
            </a:avLst>
          </a:prstGeom>
          <a:solidFill>
            <a:srgbClr val="D0CED9"/>
          </a:solidFill>
          <a:ln/>
        </p:spPr>
      </p:sp>
      <p:sp>
        <p:nvSpPr>
          <p:cNvPr id="4" name="Shape 2"/>
          <p:cNvSpPr/>
          <p:nvPr/>
        </p:nvSpPr>
        <p:spPr>
          <a:xfrm>
            <a:off x="6631305" y="1532453"/>
            <a:ext cx="513993" cy="22860"/>
          </a:xfrm>
          <a:prstGeom prst="roundRect">
            <a:avLst>
              <a:gd name="adj" fmla="val 112446"/>
            </a:avLst>
          </a:prstGeom>
          <a:solidFill>
            <a:srgbClr val="D0CED9"/>
          </a:solidFill>
          <a:ln/>
        </p:spPr>
      </p:sp>
      <p:sp>
        <p:nvSpPr>
          <p:cNvPr id="5" name="Shape 3"/>
          <p:cNvSpPr/>
          <p:nvPr/>
        </p:nvSpPr>
        <p:spPr>
          <a:xfrm>
            <a:off x="7122438" y="1351121"/>
            <a:ext cx="385524" cy="385524"/>
          </a:xfrm>
          <a:prstGeom prst="roundRect">
            <a:avLst>
              <a:gd name="adj" fmla="val 6668"/>
            </a:avLst>
          </a:prstGeom>
          <a:solidFill>
            <a:srgbClr val="EAE8F3"/>
          </a:solidFill>
          <a:ln/>
        </p:spPr>
      </p:sp>
      <p:pic>
        <p:nvPicPr>
          <p:cNvPr id="6" name="Image 0" descr="preencoded.png"/>
          <p:cNvPicPr>
            <a:picLocks noChangeAspect="1"/>
          </p:cNvPicPr>
          <p:nvPr/>
        </p:nvPicPr>
        <p:blipFill>
          <a:blip r:embed="rId3"/>
          <a:stretch>
            <a:fillRect/>
          </a:stretch>
        </p:blipFill>
        <p:spPr>
          <a:xfrm>
            <a:off x="7186732" y="1383268"/>
            <a:ext cx="256937" cy="321231"/>
          </a:xfrm>
          <a:prstGeom prst="rect">
            <a:avLst/>
          </a:prstGeom>
        </p:spPr>
      </p:pic>
      <p:sp>
        <p:nvSpPr>
          <p:cNvPr id="7" name="Text 4"/>
          <p:cNvSpPr/>
          <p:nvPr/>
        </p:nvSpPr>
        <p:spPr>
          <a:xfrm>
            <a:off x="4313634" y="1409938"/>
            <a:ext cx="2144792" cy="267653"/>
          </a:xfrm>
          <a:prstGeom prst="rect">
            <a:avLst/>
          </a:prstGeom>
          <a:noFill/>
          <a:ln/>
        </p:spPr>
        <p:txBody>
          <a:bodyPr wrap="none" lIns="0" tIns="0" rIns="0" bIns="0" rtlCol="0" anchor="t"/>
          <a:lstStyle/>
          <a:p>
            <a:pPr marL="0" indent="0" algn="r">
              <a:lnSpc>
                <a:spcPts val="2100"/>
              </a:lnSpc>
              <a:buNone/>
            </a:pPr>
            <a:r>
              <a:rPr lang="en-US" sz="1650" dirty="0">
                <a:solidFill>
                  <a:srgbClr val="49495A"/>
                </a:solidFill>
                <a:latin typeface="Libre Baskerville" pitchFamily="34" charset="0"/>
                <a:ea typeface="Libre Baskerville" pitchFamily="34" charset="-122"/>
                <a:cs typeface="Libre Baskerville" pitchFamily="34" charset="-120"/>
              </a:rPr>
              <a:t>Quantity Validation</a:t>
            </a:r>
            <a:endParaRPr lang="en-US" sz="1650" dirty="0"/>
          </a:p>
        </p:txBody>
      </p:sp>
      <p:sp>
        <p:nvSpPr>
          <p:cNvPr id="8" name="Text 5"/>
          <p:cNvSpPr/>
          <p:nvPr/>
        </p:nvSpPr>
        <p:spPr>
          <a:xfrm>
            <a:off x="685443" y="1780342"/>
            <a:ext cx="5772983" cy="274082"/>
          </a:xfrm>
          <a:prstGeom prst="rect">
            <a:avLst/>
          </a:prstGeom>
          <a:noFill/>
          <a:ln/>
        </p:spPr>
        <p:txBody>
          <a:bodyPr wrap="none" lIns="0" tIns="0" rIns="0" bIns="0" rtlCol="0" anchor="t"/>
          <a:lstStyle/>
          <a:p>
            <a:pPr marL="0" indent="0" algn="r">
              <a:lnSpc>
                <a:spcPts val="2150"/>
              </a:lnSpc>
              <a:buNone/>
            </a:pPr>
            <a:r>
              <a:rPr lang="en-US" sz="1300" dirty="0">
                <a:solidFill>
                  <a:srgbClr val="49495A"/>
                </a:solidFill>
                <a:latin typeface="Open Sans" pitchFamily="34" charset="0"/>
                <a:ea typeface="Open Sans" pitchFamily="34" charset="-122"/>
                <a:cs typeface="Open Sans" pitchFamily="34" charset="-120"/>
              </a:rPr>
              <a:t>System verifies product availability and quantities.</a:t>
            </a:r>
            <a:endParaRPr lang="en-US" sz="1300" dirty="0"/>
          </a:p>
        </p:txBody>
      </p:sp>
      <p:sp>
        <p:nvSpPr>
          <p:cNvPr id="9" name="Shape 6"/>
          <p:cNvSpPr/>
          <p:nvPr/>
        </p:nvSpPr>
        <p:spPr>
          <a:xfrm>
            <a:off x="7485102" y="2560558"/>
            <a:ext cx="513993" cy="22860"/>
          </a:xfrm>
          <a:prstGeom prst="roundRect">
            <a:avLst>
              <a:gd name="adj" fmla="val 112446"/>
            </a:avLst>
          </a:prstGeom>
          <a:solidFill>
            <a:srgbClr val="D0CED9"/>
          </a:solidFill>
          <a:ln/>
        </p:spPr>
      </p:sp>
      <p:sp>
        <p:nvSpPr>
          <p:cNvPr id="10" name="Shape 7"/>
          <p:cNvSpPr/>
          <p:nvPr/>
        </p:nvSpPr>
        <p:spPr>
          <a:xfrm>
            <a:off x="7122438" y="2379226"/>
            <a:ext cx="385524" cy="385524"/>
          </a:xfrm>
          <a:prstGeom prst="roundRect">
            <a:avLst>
              <a:gd name="adj" fmla="val 6668"/>
            </a:avLst>
          </a:prstGeom>
          <a:solidFill>
            <a:srgbClr val="EAE8F3"/>
          </a:solidFill>
          <a:ln/>
        </p:spPr>
      </p:sp>
      <p:pic>
        <p:nvPicPr>
          <p:cNvPr id="11" name="Image 1" descr="preencoded.png"/>
          <p:cNvPicPr>
            <a:picLocks noChangeAspect="1"/>
          </p:cNvPicPr>
          <p:nvPr/>
        </p:nvPicPr>
        <p:blipFill>
          <a:blip r:embed="rId4"/>
          <a:stretch>
            <a:fillRect/>
          </a:stretch>
        </p:blipFill>
        <p:spPr>
          <a:xfrm>
            <a:off x="7186732" y="2411373"/>
            <a:ext cx="256937" cy="321231"/>
          </a:xfrm>
          <a:prstGeom prst="rect">
            <a:avLst/>
          </a:prstGeom>
        </p:spPr>
      </p:pic>
      <p:sp>
        <p:nvSpPr>
          <p:cNvPr id="12" name="Text 8"/>
          <p:cNvSpPr/>
          <p:nvPr/>
        </p:nvSpPr>
        <p:spPr>
          <a:xfrm>
            <a:off x="8171974" y="2438043"/>
            <a:ext cx="2825710" cy="267653"/>
          </a:xfrm>
          <a:prstGeom prst="rect">
            <a:avLst/>
          </a:prstGeom>
          <a:noFill/>
          <a:ln/>
        </p:spPr>
        <p:txBody>
          <a:bodyPr wrap="none" lIns="0" tIns="0" rIns="0" bIns="0" rtlCol="0" anchor="t"/>
          <a:lstStyle/>
          <a:p>
            <a:pPr marL="0" indent="0" algn="l">
              <a:lnSpc>
                <a:spcPts val="2100"/>
              </a:lnSpc>
              <a:buNone/>
            </a:pPr>
            <a:r>
              <a:rPr lang="en-US" sz="1650" dirty="0">
                <a:solidFill>
                  <a:srgbClr val="49495A"/>
                </a:solidFill>
                <a:latin typeface="Libre Baskerville" pitchFamily="34" charset="0"/>
                <a:ea typeface="Libre Baskerville" pitchFamily="34" charset="-122"/>
                <a:cs typeface="Libre Baskerville" pitchFamily="34" charset="-120"/>
              </a:rPr>
              <a:t>Alternate Provider Search</a:t>
            </a:r>
            <a:endParaRPr lang="en-US" sz="1650" dirty="0"/>
          </a:p>
        </p:txBody>
      </p:sp>
      <p:sp>
        <p:nvSpPr>
          <p:cNvPr id="13" name="Text 9"/>
          <p:cNvSpPr/>
          <p:nvPr/>
        </p:nvSpPr>
        <p:spPr>
          <a:xfrm>
            <a:off x="8171974" y="2808446"/>
            <a:ext cx="5772983" cy="274082"/>
          </a:xfrm>
          <a:prstGeom prst="rect">
            <a:avLst/>
          </a:prstGeom>
          <a:noFill/>
          <a:ln/>
        </p:spPr>
        <p:txBody>
          <a:bodyPr wrap="none" lIns="0" tIns="0" rIns="0" bIns="0" rtlCol="0" anchor="t"/>
          <a:lstStyle/>
          <a:p>
            <a:pPr marL="0" indent="0" algn="l">
              <a:lnSpc>
                <a:spcPts val="2150"/>
              </a:lnSpc>
              <a:buNone/>
            </a:pPr>
            <a:r>
              <a:rPr lang="en-US" sz="1300" dirty="0">
                <a:solidFill>
                  <a:srgbClr val="49495A"/>
                </a:solidFill>
                <a:latin typeface="Open Sans" pitchFamily="34" charset="0"/>
                <a:ea typeface="Open Sans" pitchFamily="34" charset="-122"/>
                <a:cs typeface="Open Sans" pitchFamily="34" charset="-120"/>
              </a:rPr>
              <a:t>If out of stock, system automatically searches for other providers.</a:t>
            </a:r>
            <a:endParaRPr lang="en-US" sz="1300" dirty="0"/>
          </a:p>
        </p:txBody>
      </p:sp>
      <p:sp>
        <p:nvSpPr>
          <p:cNvPr id="14" name="Shape 10"/>
          <p:cNvSpPr/>
          <p:nvPr/>
        </p:nvSpPr>
        <p:spPr>
          <a:xfrm>
            <a:off x="6631305" y="3446740"/>
            <a:ext cx="513993" cy="22860"/>
          </a:xfrm>
          <a:prstGeom prst="roundRect">
            <a:avLst>
              <a:gd name="adj" fmla="val 112446"/>
            </a:avLst>
          </a:prstGeom>
          <a:solidFill>
            <a:srgbClr val="D0CED9"/>
          </a:solidFill>
          <a:ln/>
        </p:spPr>
      </p:sp>
      <p:sp>
        <p:nvSpPr>
          <p:cNvPr id="15" name="Shape 11"/>
          <p:cNvSpPr/>
          <p:nvPr/>
        </p:nvSpPr>
        <p:spPr>
          <a:xfrm>
            <a:off x="7122438" y="3265408"/>
            <a:ext cx="385524" cy="385524"/>
          </a:xfrm>
          <a:prstGeom prst="roundRect">
            <a:avLst>
              <a:gd name="adj" fmla="val 6668"/>
            </a:avLst>
          </a:prstGeom>
          <a:solidFill>
            <a:srgbClr val="EAE8F3"/>
          </a:solidFill>
          <a:ln/>
        </p:spPr>
      </p:sp>
      <p:pic>
        <p:nvPicPr>
          <p:cNvPr id="16" name="Image 2" descr="preencoded.png"/>
          <p:cNvPicPr>
            <a:picLocks noChangeAspect="1"/>
          </p:cNvPicPr>
          <p:nvPr/>
        </p:nvPicPr>
        <p:blipFill>
          <a:blip r:embed="rId5"/>
          <a:stretch>
            <a:fillRect/>
          </a:stretch>
        </p:blipFill>
        <p:spPr>
          <a:xfrm>
            <a:off x="7186732" y="3297555"/>
            <a:ext cx="256937" cy="321231"/>
          </a:xfrm>
          <a:prstGeom prst="rect">
            <a:avLst/>
          </a:prstGeom>
        </p:spPr>
      </p:pic>
      <p:sp>
        <p:nvSpPr>
          <p:cNvPr id="17" name="Text 12"/>
          <p:cNvSpPr/>
          <p:nvPr/>
        </p:nvSpPr>
        <p:spPr>
          <a:xfrm>
            <a:off x="2886670" y="3324225"/>
            <a:ext cx="3571756" cy="267653"/>
          </a:xfrm>
          <a:prstGeom prst="rect">
            <a:avLst/>
          </a:prstGeom>
          <a:noFill/>
          <a:ln/>
        </p:spPr>
        <p:txBody>
          <a:bodyPr wrap="none" lIns="0" tIns="0" rIns="0" bIns="0" rtlCol="0" anchor="t"/>
          <a:lstStyle/>
          <a:p>
            <a:pPr marL="0" indent="0" algn="r">
              <a:lnSpc>
                <a:spcPts val="2100"/>
              </a:lnSpc>
              <a:buNone/>
            </a:pPr>
            <a:r>
              <a:rPr lang="en-US" sz="1650" dirty="0">
                <a:solidFill>
                  <a:srgbClr val="49495A"/>
                </a:solidFill>
                <a:latin typeface="Libre Baskerville" pitchFamily="34" charset="0"/>
                <a:ea typeface="Libre Baskerville" pitchFamily="34" charset="-122"/>
                <a:cs typeface="Libre Baskerville" pitchFamily="34" charset="-120"/>
              </a:rPr>
              <a:t>Order &amp; Transaction Generation</a:t>
            </a:r>
            <a:endParaRPr lang="en-US" sz="1650" dirty="0"/>
          </a:p>
        </p:txBody>
      </p:sp>
      <p:sp>
        <p:nvSpPr>
          <p:cNvPr id="18" name="Text 13"/>
          <p:cNvSpPr/>
          <p:nvPr/>
        </p:nvSpPr>
        <p:spPr>
          <a:xfrm>
            <a:off x="685443" y="3694628"/>
            <a:ext cx="5772983" cy="274082"/>
          </a:xfrm>
          <a:prstGeom prst="rect">
            <a:avLst/>
          </a:prstGeom>
          <a:noFill/>
          <a:ln/>
        </p:spPr>
        <p:txBody>
          <a:bodyPr wrap="none" lIns="0" tIns="0" rIns="0" bIns="0" rtlCol="0" anchor="t"/>
          <a:lstStyle/>
          <a:p>
            <a:pPr marL="0" indent="0" algn="r">
              <a:lnSpc>
                <a:spcPts val="2150"/>
              </a:lnSpc>
              <a:buNone/>
            </a:pPr>
            <a:r>
              <a:rPr lang="en-US" sz="1300" dirty="0">
                <a:solidFill>
                  <a:srgbClr val="49495A"/>
                </a:solidFill>
                <a:latin typeface="Open Sans" pitchFamily="34" charset="0"/>
                <a:ea typeface="Open Sans" pitchFamily="34" charset="-122"/>
                <a:cs typeface="Open Sans" pitchFamily="34" charset="-120"/>
              </a:rPr>
              <a:t>New order created, transactions set to 'Pending'.</a:t>
            </a:r>
            <a:endParaRPr lang="en-US" sz="1300" dirty="0"/>
          </a:p>
        </p:txBody>
      </p:sp>
      <p:sp>
        <p:nvSpPr>
          <p:cNvPr id="19" name="Shape 14"/>
          <p:cNvSpPr/>
          <p:nvPr/>
        </p:nvSpPr>
        <p:spPr>
          <a:xfrm>
            <a:off x="7485102" y="4332923"/>
            <a:ext cx="513993" cy="22860"/>
          </a:xfrm>
          <a:prstGeom prst="roundRect">
            <a:avLst>
              <a:gd name="adj" fmla="val 112446"/>
            </a:avLst>
          </a:prstGeom>
          <a:solidFill>
            <a:srgbClr val="D0CED9"/>
          </a:solidFill>
          <a:ln/>
        </p:spPr>
      </p:sp>
      <p:sp>
        <p:nvSpPr>
          <p:cNvPr id="20" name="Shape 15"/>
          <p:cNvSpPr/>
          <p:nvPr/>
        </p:nvSpPr>
        <p:spPr>
          <a:xfrm>
            <a:off x="7122438" y="4151590"/>
            <a:ext cx="385524" cy="385524"/>
          </a:xfrm>
          <a:prstGeom prst="roundRect">
            <a:avLst>
              <a:gd name="adj" fmla="val 6668"/>
            </a:avLst>
          </a:prstGeom>
          <a:solidFill>
            <a:srgbClr val="EAE8F3"/>
          </a:solidFill>
          <a:ln/>
        </p:spPr>
      </p:sp>
      <p:pic>
        <p:nvPicPr>
          <p:cNvPr id="21" name="Image 3" descr="preencoded.png"/>
          <p:cNvPicPr>
            <a:picLocks noChangeAspect="1"/>
          </p:cNvPicPr>
          <p:nvPr/>
        </p:nvPicPr>
        <p:blipFill>
          <a:blip r:embed="rId6"/>
          <a:stretch>
            <a:fillRect/>
          </a:stretch>
        </p:blipFill>
        <p:spPr>
          <a:xfrm>
            <a:off x="7186732" y="4183737"/>
            <a:ext cx="256937" cy="321231"/>
          </a:xfrm>
          <a:prstGeom prst="rect">
            <a:avLst/>
          </a:prstGeom>
        </p:spPr>
      </p:pic>
      <p:sp>
        <p:nvSpPr>
          <p:cNvPr id="22" name="Text 16"/>
          <p:cNvSpPr/>
          <p:nvPr/>
        </p:nvSpPr>
        <p:spPr>
          <a:xfrm>
            <a:off x="8171974" y="4210407"/>
            <a:ext cx="2331601" cy="267653"/>
          </a:xfrm>
          <a:prstGeom prst="rect">
            <a:avLst/>
          </a:prstGeom>
          <a:noFill/>
          <a:ln/>
        </p:spPr>
        <p:txBody>
          <a:bodyPr wrap="none" lIns="0" tIns="0" rIns="0" bIns="0" rtlCol="0" anchor="t"/>
          <a:lstStyle/>
          <a:p>
            <a:pPr marL="0" indent="0" algn="l">
              <a:lnSpc>
                <a:spcPts val="2100"/>
              </a:lnSpc>
              <a:buNone/>
            </a:pPr>
            <a:r>
              <a:rPr lang="en-US" sz="1650" dirty="0">
                <a:solidFill>
                  <a:srgbClr val="49495A"/>
                </a:solidFill>
                <a:latin typeface="Libre Baskerville" pitchFamily="34" charset="0"/>
                <a:ea typeface="Libre Baskerville" pitchFamily="34" charset="-122"/>
                <a:cs typeface="Libre Baskerville" pitchFamily="34" charset="-120"/>
              </a:rPr>
              <a:t>Provider Notification</a:t>
            </a:r>
            <a:endParaRPr lang="en-US" sz="1650" dirty="0"/>
          </a:p>
        </p:txBody>
      </p:sp>
      <p:sp>
        <p:nvSpPr>
          <p:cNvPr id="23" name="Text 17"/>
          <p:cNvSpPr/>
          <p:nvPr/>
        </p:nvSpPr>
        <p:spPr>
          <a:xfrm>
            <a:off x="8171974" y="4580811"/>
            <a:ext cx="5772983" cy="274082"/>
          </a:xfrm>
          <a:prstGeom prst="rect">
            <a:avLst/>
          </a:prstGeom>
          <a:noFill/>
          <a:ln/>
        </p:spPr>
        <p:txBody>
          <a:bodyPr wrap="none" lIns="0" tIns="0" rIns="0" bIns="0" rtlCol="0" anchor="t"/>
          <a:lstStyle/>
          <a:p>
            <a:pPr marL="0" indent="0" algn="l">
              <a:lnSpc>
                <a:spcPts val="2150"/>
              </a:lnSpc>
              <a:buNone/>
            </a:pPr>
            <a:r>
              <a:rPr lang="en-US" sz="1300" dirty="0">
                <a:solidFill>
                  <a:srgbClr val="49495A"/>
                </a:solidFill>
                <a:latin typeface="Open Sans" pitchFamily="34" charset="0"/>
                <a:ea typeface="Open Sans" pitchFamily="34" charset="-122"/>
                <a:cs typeface="Open Sans" pitchFamily="34" charset="-120"/>
              </a:rPr>
              <a:t>Email sent to provider for order-item confirmation.</a:t>
            </a:r>
            <a:endParaRPr lang="en-US" sz="1300" dirty="0"/>
          </a:p>
        </p:txBody>
      </p:sp>
      <p:sp>
        <p:nvSpPr>
          <p:cNvPr id="24" name="Shape 18"/>
          <p:cNvSpPr/>
          <p:nvPr/>
        </p:nvSpPr>
        <p:spPr>
          <a:xfrm>
            <a:off x="6631305" y="5219105"/>
            <a:ext cx="513993" cy="22860"/>
          </a:xfrm>
          <a:prstGeom prst="roundRect">
            <a:avLst>
              <a:gd name="adj" fmla="val 112446"/>
            </a:avLst>
          </a:prstGeom>
          <a:solidFill>
            <a:srgbClr val="D0CED9"/>
          </a:solidFill>
          <a:ln/>
        </p:spPr>
      </p:sp>
      <p:sp>
        <p:nvSpPr>
          <p:cNvPr id="25" name="Shape 19"/>
          <p:cNvSpPr/>
          <p:nvPr/>
        </p:nvSpPr>
        <p:spPr>
          <a:xfrm>
            <a:off x="7122438" y="5037773"/>
            <a:ext cx="385524" cy="385524"/>
          </a:xfrm>
          <a:prstGeom prst="roundRect">
            <a:avLst>
              <a:gd name="adj" fmla="val 6668"/>
            </a:avLst>
          </a:prstGeom>
          <a:solidFill>
            <a:srgbClr val="EAE8F3"/>
          </a:solidFill>
          <a:ln/>
        </p:spPr>
      </p:sp>
      <p:pic>
        <p:nvPicPr>
          <p:cNvPr id="26" name="Image 4" descr="preencoded.png"/>
          <p:cNvPicPr>
            <a:picLocks noChangeAspect="1"/>
          </p:cNvPicPr>
          <p:nvPr/>
        </p:nvPicPr>
        <p:blipFill>
          <a:blip r:embed="rId7"/>
          <a:stretch>
            <a:fillRect/>
          </a:stretch>
        </p:blipFill>
        <p:spPr>
          <a:xfrm>
            <a:off x="7186732" y="5069919"/>
            <a:ext cx="256937" cy="321231"/>
          </a:xfrm>
          <a:prstGeom prst="rect">
            <a:avLst/>
          </a:prstGeom>
        </p:spPr>
      </p:pic>
      <p:sp>
        <p:nvSpPr>
          <p:cNvPr id="27" name="Text 20"/>
          <p:cNvSpPr/>
          <p:nvPr/>
        </p:nvSpPr>
        <p:spPr>
          <a:xfrm>
            <a:off x="4316373" y="5096589"/>
            <a:ext cx="2142053" cy="267653"/>
          </a:xfrm>
          <a:prstGeom prst="rect">
            <a:avLst/>
          </a:prstGeom>
          <a:noFill/>
          <a:ln/>
        </p:spPr>
        <p:txBody>
          <a:bodyPr wrap="none" lIns="0" tIns="0" rIns="0" bIns="0" rtlCol="0" anchor="t"/>
          <a:lstStyle/>
          <a:p>
            <a:pPr marL="0" indent="0" algn="r">
              <a:lnSpc>
                <a:spcPts val="2100"/>
              </a:lnSpc>
              <a:buNone/>
            </a:pPr>
            <a:r>
              <a:rPr lang="en-US" sz="1650" dirty="0">
                <a:solidFill>
                  <a:srgbClr val="49495A"/>
                </a:solidFill>
                <a:latin typeface="Libre Baskerville" pitchFamily="34" charset="0"/>
                <a:ea typeface="Libre Baskerville" pitchFamily="34" charset="-122"/>
                <a:cs typeface="Libre Baskerville" pitchFamily="34" charset="-120"/>
              </a:rPr>
              <a:t>Status Update</a:t>
            </a:r>
            <a:endParaRPr lang="en-US" sz="1650" dirty="0"/>
          </a:p>
        </p:txBody>
      </p:sp>
      <p:sp>
        <p:nvSpPr>
          <p:cNvPr id="28" name="Text 21"/>
          <p:cNvSpPr/>
          <p:nvPr/>
        </p:nvSpPr>
        <p:spPr>
          <a:xfrm>
            <a:off x="685443" y="5466993"/>
            <a:ext cx="5772983" cy="274082"/>
          </a:xfrm>
          <a:prstGeom prst="rect">
            <a:avLst/>
          </a:prstGeom>
          <a:noFill/>
          <a:ln/>
        </p:spPr>
        <p:txBody>
          <a:bodyPr wrap="none" lIns="0" tIns="0" rIns="0" bIns="0" rtlCol="0" anchor="t"/>
          <a:lstStyle/>
          <a:p>
            <a:pPr marL="0" indent="0" algn="r">
              <a:lnSpc>
                <a:spcPts val="2150"/>
              </a:lnSpc>
              <a:buNone/>
            </a:pPr>
            <a:r>
              <a:rPr lang="en-US" sz="1300" dirty="0">
                <a:solidFill>
                  <a:srgbClr val="49495A"/>
                </a:solidFill>
                <a:latin typeface="Open Sans" pitchFamily="34" charset="0"/>
                <a:ea typeface="Open Sans" pitchFamily="34" charset="-122"/>
                <a:cs typeface="Open Sans" pitchFamily="34" charset="-120"/>
              </a:rPr>
              <a:t>Transaction status changes to 'Accepted' upon provider confirmation.</a:t>
            </a:r>
            <a:endParaRPr lang="en-US" sz="1300" dirty="0"/>
          </a:p>
        </p:txBody>
      </p:sp>
      <p:sp>
        <p:nvSpPr>
          <p:cNvPr id="29" name="Text 22"/>
          <p:cNvSpPr/>
          <p:nvPr/>
        </p:nvSpPr>
        <p:spPr>
          <a:xfrm>
            <a:off x="685443" y="6660237"/>
            <a:ext cx="13259514" cy="1096328"/>
          </a:xfrm>
          <a:prstGeom prst="rect">
            <a:avLst/>
          </a:prstGeom>
          <a:noFill/>
          <a:ln/>
        </p:spPr>
        <p:txBody>
          <a:bodyPr wrap="square" lIns="0" tIns="0" rIns="0" bIns="0" rtlCol="0" anchor="t"/>
          <a:lstStyle/>
          <a:p>
            <a:pPr marL="0" indent="0" algn="l">
              <a:lnSpc>
                <a:spcPts val="2150"/>
              </a:lnSpc>
              <a:buNone/>
            </a:pPr>
            <a:r>
              <a:rPr lang="en-US" sz="1300" dirty="0">
                <a:solidFill>
                  <a:srgbClr val="49495A"/>
                </a:solidFill>
                <a:latin typeface="Open Sans" pitchFamily="34" charset="0"/>
                <a:ea typeface="Open Sans" pitchFamily="34" charset="-122"/>
                <a:cs typeface="Open Sans" pitchFamily="34" charset="-120"/>
              </a:rPr>
              <a:t>When a user initiates checkout, Nextronica’s system performs a rigorous validation of product quantities to ensure availability. In cases where an item is out of stock, the system intelligently seeks out alternate providers for the same product, guaranteeing fulfillment. Once validated, an order is generated with associated 'Pending' transactions. Providers are then promptly notified via email to confirm the order-item. Upon their acceptance, the transaction status is updated to 'Accepted', enabling real-time tracking and financial management for the admin team.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211104"/>
            <a:ext cx="11913275" cy="620078"/>
          </a:xfrm>
          <a:prstGeom prst="rect">
            <a:avLst/>
          </a:prstGeom>
          <a:noFill/>
          <a:ln/>
        </p:spPr>
        <p:txBody>
          <a:bodyPr wrap="none" lIns="0" tIns="0" rIns="0" bIns="0" rtlCol="0" anchor="t"/>
          <a:lstStyle/>
          <a:p>
            <a:pPr marL="0" indent="0" algn="l">
              <a:lnSpc>
                <a:spcPts val="4850"/>
              </a:lnSpc>
              <a:buNone/>
            </a:pPr>
            <a:r>
              <a:rPr lang="en-US" sz="3900" dirty="0">
                <a:solidFill>
                  <a:srgbClr val="403CCF"/>
                </a:solidFill>
                <a:latin typeface="Libre Baskerville" pitchFamily="34" charset="0"/>
                <a:ea typeface="Libre Baskerville" pitchFamily="34" charset="-122"/>
                <a:cs typeface="Libre Baskerville" pitchFamily="34" charset="-120"/>
              </a:rPr>
              <a:t>Payment, Delivery &amp; Profit Distribution Model</a:t>
            </a:r>
            <a:endParaRPr lang="en-US" sz="3900" dirty="0"/>
          </a:p>
        </p:txBody>
      </p:sp>
      <p:sp>
        <p:nvSpPr>
          <p:cNvPr id="3" name="Shape 1"/>
          <p:cNvSpPr/>
          <p:nvPr/>
        </p:nvSpPr>
        <p:spPr>
          <a:xfrm>
            <a:off x="793790" y="2228017"/>
            <a:ext cx="446484" cy="446484"/>
          </a:xfrm>
          <a:prstGeom prst="roundRect">
            <a:avLst>
              <a:gd name="adj" fmla="val 6668"/>
            </a:avLst>
          </a:prstGeom>
          <a:solidFill>
            <a:srgbClr val="EAE8F3"/>
          </a:solidFill>
          <a:ln/>
        </p:spPr>
      </p:sp>
      <p:sp>
        <p:nvSpPr>
          <p:cNvPr id="4" name="Text 2"/>
          <p:cNvSpPr/>
          <p:nvPr/>
        </p:nvSpPr>
        <p:spPr>
          <a:xfrm>
            <a:off x="868204" y="2265224"/>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49495A"/>
                </a:solidFill>
                <a:latin typeface="Libre Baskerville" pitchFamily="34" charset="0"/>
                <a:ea typeface="Libre Baskerville" pitchFamily="34" charset="-122"/>
                <a:cs typeface="Libre Baskerville" pitchFamily="34" charset="-120"/>
              </a:rPr>
              <a:t>1</a:t>
            </a:r>
            <a:endParaRPr lang="en-US" sz="2300" dirty="0"/>
          </a:p>
        </p:txBody>
      </p:sp>
      <p:sp>
        <p:nvSpPr>
          <p:cNvPr id="5" name="Text 3"/>
          <p:cNvSpPr/>
          <p:nvPr/>
        </p:nvSpPr>
        <p:spPr>
          <a:xfrm>
            <a:off x="1438632" y="2296239"/>
            <a:ext cx="2597944"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Order Confirmation</a:t>
            </a:r>
            <a:endParaRPr lang="en-US" sz="1950" dirty="0"/>
          </a:p>
        </p:txBody>
      </p:sp>
      <p:sp>
        <p:nvSpPr>
          <p:cNvPr id="6" name="Text 4"/>
          <p:cNvSpPr/>
          <p:nvPr/>
        </p:nvSpPr>
        <p:spPr>
          <a:xfrm>
            <a:off x="1438632" y="2725460"/>
            <a:ext cx="5752505" cy="635079"/>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Users receive email notifications as soon as their order is confirmed and dispatched.</a:t>
            </a:r>
            <a:endParaRPr lang="en-US" sz="1550" dirty="0"/>
          </a:p>
        </p:txBody>
      </p:sp>
      <p:sp>
        <p:nvSpPr>
          <p:cNvPr id="7" name="Shape 5"/>
          <p:cNvSpPr/>
          <p:nvPr/>
        </p:nvSpPr>
        <p:spPr>
          <a:xfrm>
            <a:off x="7439144" y="2228017"/>
            <a:ext cx="446484" cy="446484"/>
          </a:xfrm>
          <a:prstGeom prst="roundRect">
            <a:avLst>
              <a:gd name="adj" fmla="val 6668"/>
            </a:avLst>
          </a:prstGeom>
          <a:solidFill>
            <a:srgbClr val="EAE8F3"/>
          </a:solidFill>
          <a:ln/>
        </p:spPr>
      </p:sp>
      <p:sp>
        <p:nvSpPr>
          <p:cNvPr id="8" name="Text 6"/>
          <p:cNvSpPr/>
          <p:nvPr/>
        </p:nvSpPr>
        <p:spPr>
          <a:xfrm>
            <a:off x="7513558" y="2265224"/>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49495A"/>
                </a:solidFill>
                <a:latin typeface="Libre Baskerville" pitchFamily="34" charset="0"/>
                <a:ea typeface="Libre Baskerville" pitchFamily="34" charset="-122"/>
                <a:cs typeface="Libre Baskerville" pitchFamily="34" charset="-120"/>
              </a:rPr>
              <a:t>2</a:t>
            </a:r>
            <a:endParaRPr lang="en-US" sz="2300" dirty="0"/>
          </a:p>
        </p:txBody>
      </p:sp>
      <p:sp>
        <p:nvSpPr>
          <p:cNvPr id="9" name="Text 7"/>
          <p:cNvSpPr/>
          <p:nvPr/>
        </p:nvSpPr>
        <p:spPr>
          <a:xfrm>
            <a:off x="8083987" y="229623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Trackable Delivery</a:t>
            </a:r>
            <a:endParaRPr lang="en-US" sz="1950" dirty="0"/>
          </a:p>
        </p:txBody>
      </p:sp>
      <p:sp>
        <p:nvSpPr>
          <p:cNvPr id="10" name="Text 8"/>
          <p:cNvSpPr/>
          <p:nvPr/>
        </p:nvSpPr>
        <p:spPr>
          <a:xfrm>
            <a:off x="8083987" y="2725460"/>
            <a:ext cx="5752624" cy="635079"/>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Each order is assigned a unique ID for seamless tracking, providing real-time updates on its journey.</a:t>
            </a:r>
            <a:endParaRPr lang="en-US" sz="1550" dirty="0"/>
          </a:p>
        </p:txBody>
      </p:sp>
      <p:sp>
        <p:nvSpPr>
          <p:cNvPr id="11" name="Shape 9"/>
          <p:cNvSpPr/>
          <p:nvPr/>
        </p:nvSpPr>
        <p:spPr>
          <a:xfrm>
            <a:off x="793790" y="3757374"/>
            <a:ext cx="446484" cy="446484"/>
          </a:xfrm>
          <a:prstGeom prst="roundRect">
            <a:avLst>
              <a:gd name="adj" fmla="val 6668"/>
            </a:avLst>
          </a:prstGeom>
          <a:solidFill>
            <a:srgbClr val="EAE8F3"/>
          </a:solidFill>
          <a:ln/>
        </p:spPr>
      </p:sp>
      <p:sp>
        <p:nvSpPr>
          <p:cNvPr id="12" name="Text 10"/>
          <p:cNvSpPr/>
          <p:nvPr/>
        </p:nvSpPr>
        <p:spPr>
          <a:xfrm>
            <a:off x="868204" y="3794581"/>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49495A"/>
                </a:solidFill>
                <a:latin typeface="Libre Baskerville" pitchFamily="34" charset="0"/>
                <a:ea typeface="Libre Baskerville" pitchFamily="34" charset="-122"/>
                <a:cs typeface="Libre Baskerville" pitchFamily="34" charset="-120"/>
              </a:rPr>
              <a:t>3</a:t>
            </a:r>
            <a:endParaRPr lang="en-US" sz="2300" dirty="0"/>
          </a:p>
        </p:txBody>
      </p:sp>
      <p:sp>
        <p:nvSpPr>
          <p:cNvPr id="13" name="Text 11"/>
          <p:cNvSpPr/>
          <p:nvPr/>
        </p:nvSpPr>
        <p:spPr>
          <a:xfrm>
            <a:off x="1438632" y="382559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Cash on Delivery</a:t>
            </a:r>
            <a:endParaRPr lang="en-US" sz="1950" dirty="0"/>
          </a:p>
        </p:txBody>
      </p:sp>
      <p:sp>
        <p:nvSpPr>
          <p:cNvPr id="14" name="Text 12"/>
          <p:cNvSpPr/>
          <p:nvPr/>
        </p:nvSpPr>
        <p:spPr>
          <a:xfrm>
            <a:off x="1438632" y="4254818"/>
            <a:ext cx="5752505" cy="635079"/>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Payments are conveniently collected upon delivery, offering flexibility and trust to our customers.</a:t>
            </a:r>
            <a:endParaRPr lang="en-US" sz="1550" dirty="0"/>
          </a:p>
        </p:txBody>
      </p:sp>
      <p:sp>
        <p:nvSpPr>
          <p:cNvPr id="15" name="Shape 13"/>
          <p:cNvSpPr/>
          <p:nvPr/>
        </p:nvSpPr>
        <p:spPr>
          <a:xfrm>
            <a:off x="7439144" y="3757374"/>
            <a:ext cx="446484" cy="446484"/>
          </a:xfrm>
          <a:prstGeom prst="roundRect">
            <a:avLst>
              <a:gd name="adj" fmla="val 6668"/>
            </a:avLst>
          </a:prstGeom>
          <a:solidFill>
            <a:srgbClr val="EAE8F3"/>
          </a:solidFill>
          <a:ln/>
        </p:spPr>
      </p:sp>
      <p:sp>
        <p:nvSpPr>
          <p:cNvPr id="16" name="Text 14"/>
          <p:cNvSpPr/>
          <p:nvPr/>
        </p:nvSpPr>
        <p:spPr>
          <a:xfrm>
            <a:off x="7513558" y="3794581"/>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49495A"/>
                </a:solidFill>
                <a:latin typeface="Libre Baskerville" pitchFamily="34" charset="0"/>
                <a:ea typeface="Libre Baskerville" pitchFamily="34" charset="-122"/>
                <a:cs typeface="Libre Baskerville" pitchFamily="34" charset="-120"/>
              </a:rPr>
              <a:t>4</a:t>
            </a:r>
            <a:endParaRPr lang="en-US" sz="2300" dirty="0"/>
          </a:p>
        </p:txBody>
      </p:sp>
      <p:sp>
        <p:nvSpPr>
          <p:cNvPr id="17" name="Text 15"/>
          <p:cNvSpPr/>
          <p:nvPr/>
        </p:nvSpPr>
        <p:spPr>
          <a:xfrm>
            <a:off x="8083987" y="3825597"/>
            <a:ext cx="3489008"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Dynamic Profit Calculation</a:t>
            </a:r>
            <a:endParaRPr lang="en-US" sz="1950" dirty="0"/>
          </a:p>
        </p:txBody>
      </p:sp>
      <p:sp>
        <p:nvSpPr>
          <p:cNvPr id="18" name="Text 16"/>
          <p:cNvSpPr/>
          <p:nvPr/>
        </p:nvSpPr>
        <p:spPr>
          <a:xfrm>
            <a:off x="8083987" y="4254818"/>
            <a:ext cx="5752624" cy="1270159"/>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Nextronica manages payment collection and precisely calculates each provider’s share and the platform’s profit margin on a per-product basis, ensuring fair and accurate distribution.</a:t>
            </a:r>
            <a:endParaRPr lang="en-US" sz="1550" dirty="0"/>
          </a:p>
        </p:txBody>
      </p:sp>
      <p:sp>
        <p:nvSpPr>
          <p:cNvPr id="19" name="Text 17"/>
          <p:cNvSpPr/>
          <p:nvPr/>
        </p:nvSpPr>
        <p:spPr>
          <a:xfrm>
            <a:off x="793790" y="5748218"/>
            <a:ext cx="13042821" cy="1270159"/>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Following order confirmation, users are immediately notified via email, confirming their purchase is en route. All orders are assigned a unique Order ID, enabling easy tracking of delivery progress. Nextronica operates on a Cash on Delivery (COD) model, simplifying the payment process for customers. Upon collection, Nextronica meticulously calculates the profit margin for each individual product, rather than the entire order, ensuring precise and transparent distribution of funds to providers.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04330"/>
            <a:ext cx="9773364" cy="620078"/>
          </a:xfrm>
          <a:prstGeom prst="rect">
            <a:avLst/>
          </a:prstGeom>
          <a:noFill/>
          <a:ln/>
        </p:spPr>
        <p:txBody>
          <a:bodyPr wrap="none" lIns="0" tIns="0" rIns="0" bIns="0" rtlCol="0" anchor="t"/>
          <a:lstStyle/>
          <a:p>
            <a:pPr marL="0" indent="0" algn="l">
              <a:lnSpc>
                <a:spcPts val="4850"/>
              </a:lnSpc>
              <a:buNone/>
            </a:pPr>
            <a:r>
              <a:rPr lang="en-US" sz="3900" dirty="0">
                <a:solidFill>
                  <a:srgbClr val="403CCF"/>
                </a:solidFill>
                <a:latin typeface="Libre Baskerville" pitchFamily="34" charset="0"/>
                <a:ea typeface="Libre Baskerville" pitchFamily="34" charset="-122"/>
                <a:cs typeface="Libre Baskerville" pitchFamily="34" charset="-120"/>
              </a:rPr>
              <a:t>Core Technologies Driving Nextronica</a:t>
            </a:r>
            <a:endParaRPr lang="en-US" sz="3900" dirty="0"/>
          </a:p>
        </p:txBody>
      </p:sp>
      <p:sp>
        <p:nvSpPr>
          <p:cNvPr id="3" name="Text 1"/>
          <p:cNvSpPr/>
          <p:nvPr/>
        </p:nvSpPr>
        <p:spPr>
          <a:xfrm>
            <a:off x="793790" y="2420422"/>
            <a:ext cx="2733318" cy="310158"/>
          </a:xfrm>
          <a:prstGeom prst="rect">
            <a:avLst/>
          </a:prstGeom>
          <a:noFill/>
          <a:ln/>
        </p:spPr>
        <p:txBody>
          <a:bodyPr wrap="none" lIns="0" tIns="0" rIns="0" bIns="0" rtlCol="0" anchor="t"/>
          <a:lstStyle/>
          <a:p>
            <a:pPr marL="0" indent="0" algn="l">
              <a:lnSpc>
                <a:spcPts val="2400"/>
              </a:lnSpc>
              <a:buNone/>
            </a:pPr>
            <a:r>
              <a:rPr lang="en-US" sz="1950" dirty="0">
                <a:solidFill>
                  <a:srgbClr val="403CCF"/>
                </a:solidFill>
                <a:latin typeface="Libre Baskerville" pitchFamily="34" charset="0"/>
                <a:ea typeface="Libre Baskerville" pitchFamily="34" charset="-122"/>
                <a:cs typeface="Libre Baskerville" pitchFamily="34" charset="-120"/>
              </a:rPr>
              <a:t>Backend Frameworks</a:t>
            </a:r>
            <a:endParaRPr lang="en-US" sz="1950" dirty="0"/>
          </a:p>
        </p:txBody>
      </p:sp>
      <p:sp>
        <p:nvSpPr>
          <p:cNvPr id="4" name="Text 2"/>
          <p:cNvSpPr/>
          <p:nvPr/>
        </p:nvSpPr>
        <p:spPr>
          <a:xfrm>
            <a:off x="793790" y="292893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9495A"/>
                </a:solidFill>
                <a:latin typeface="Open Sans" pitchFamily="34" charset="0"/>
                <a:ea typeface="Open Sans" pitchFamily="34" charset="-122"/>
                <a:cs typeface="Open Sans" pitchFamily="34" charset="-120"/>
              </a:rPr>
              <a:t>Node.js with Express.js</a:t>
            </a:r>
            <a:endParaRPr lang="en-US" sz="1550" dirty="0"/>
          </a:p>
        </p:txBody>
      </p:sp>
      <p:sp>
        <p:nvSpPr>
          <p:cNvPr id="5" name="Text 3"/>
          <p:cNvSpPr/>
          <p:nvPr/>
        </p:nvSpPr>
        <p:spPr>
          <a:xfrm>
            <a:off x="793790" y="331589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9495A"/>
                </a:solidFill>
                <a:latin typeface="Open Sans" pitchFamily="34" charset="0"/>
                <a:ea typeface="Open Sans" pitchFamily="34" charset="-122"/>
                <a:cs typeface="Open Sans" pitchFamily="34" charset="-120"/>
              </a:rPr>
              <a:t>Nest.js</a:t>
            </a:r>
            <a:endParaRPr lang="en-US" sz="1550" dirty="0"/>
          </a:p>
        </p:txBody>
      </p:sp>
      <p:sp>
        <p:nvSpPr>
          <p:cNvPr id="6" name="Text 4"/>
          <p:cNvSpPr/>
          <p:nvPr/>
        </p:nvSpPr>
        <p:spPr>
          <a:xfrm>
            <a:off x="793790" y="370284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9495A"/>
                </a:solidFill>
                <a:latin typeface="Open Sans" pitchFamily="34" charset="0"/>
                <a:ea typeface="Open Sans" pitchFamily="34" charset="-122"/>
                <a:cs typeface="Open Sans" pitchFamily="34" charset="-120"/>
              </a:rPr>
              <a:t>Java with Spring Boot</a:t>
            </a:r>
            <a:endParaRPr lang="en-US" sz="1550" dirty="0"/>
          </a:p>
        </p:txBody>
      </p:sp>
      <p:sp>
        <p:nvSpPr>
          <p:cNvPr id="7" name="Text 5"/>
          <p:cNvSpPr/>
          <p:nvPr/>
        </p:nvSpPr>
        <p:spPr>
          <a:xfrm>
            <a:off x="793790" y="421874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03CCF"/>
                </a:solidFill>
                <a:latin typeface="Libre Baskerville" pitchFamily="34" charset="0"/>
                <a:ea typeface="Libre Baskerville" pitchFamily="34" charset="-122"/>
                <a:cs typeface="Libre Baskerville" pitchFamily="34" charset="-120"/>
              </a:rPr>
              <a:t>Database</a:t>
            </a:r>
            <a:endParaRPr lang="en-US" sz="1950" dirty="0"/>
          </a:p>
        </p:txBody>
      </p:sp>
      <p:sp>
        <p:nvSpPr>
          <p:cNvPr id="8" name="Text 6"/>
          <p:cNvSpPr/>
          <p:nvPr/>
        </p:nvSpPr>
        <p:spPr>
          <a:xfrm>
            <a:off x="793790" y="472725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9495A"/>
                </a:solidFill>
                <a:latin typeface="Open Sans" pitchFamily="34" charset="0"/>
                <a:ea typeface="Open Sans" pitchFamily="34" charset="-122"/>
                <a:cs typeface="Open Sans" pitchFamily="34" charset="-120"/>
              </a:rPr>
              <a:t>MySQL</a:t>
            </a:r>
            <a:endParaRPr lang="en-US" sz="1550" dirty="0"/>
          </a:p>
        </p:txBody>
      </p:sp>
      <p:sp>
        <p:nvSpPr>
          <p:cNvPr id="9" name="Text 7"/>
          <p:cNvSpPr/>
          <p:nvPr/>
        </p:nvSpPr>
        <p:spPr>
          <a:xfrm>
            <a:off x="7564874" y="2420422"/>
            <a:ext cx="2932271" cy="310158"/>
          </a:xfrm>
          <a:prstGeom prst="rect">
            <a:avLst/>
          </a:prstGeom>
          <a:noFill/>
          <a:ln/>
        </p:spPr>
        <p:txBody>
          <a:bodyPr wrap="none" lIns="0" tIns="0" rIns="0" bIns="0" rtlCol="0" anchor="t"/>
          <a:lstStyle/>
          <a:p>
            <a:pPr marL="0" indent="0" algn="l">
              <a:lnSpc>
                <a:spcPts val="2400"/>
              </a:lnSpc>
              <a:buNone/>
            </a:pPr>
            <a:r>
              <a:rPr lang="en-US" sz="1950" dirty="0">
                <a:solidFill>
                  <a:srgbClr val="403CCF"/>
                </a:solidFill>
                <a:latin typeface="Libre Baskerville" pitchFamily="34" charset="0"/>
                <a:ea typeface="Libre Baskerville" pitchFamily="34" charset="-122"/>
                <a:cs typeface="Libre Baskerville" pitchFamily="34" charset="-120"/>
              </a:rPr>
              <a:t>Frontend Technologies</a:t>
            </a:r>
            <a:endParaRPr lang="en-US" sz="1950" dirty="0"/>
          </a:p>
        </p:txBody>
      </p:sp>
      <p:sp>
        <p:nvSpPr>
          <p:cNvPr id="10" name="Text 8"/>
          <p:cNvSpPr/>
          <p:nvPr/>
        </p:nvSpPr>
        <p:spPr>
          <a:xfrm>
            <a:off x="7564874" y="292893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9495A"/>
                </a:solidFill>
                <a:latin typeface="Open Sans" pitchFamily="34" charset="0"/>
                <a:ea typeface="Open Sans" pitchFamily="34" charset="-122"/>
                <a:cs typeface="Open Sans" pitchFamily="34" charset="-120"/>
              </a:rPr>
              <a:t>React.js</a:t>
            </a:r>
            <a:endParaRPr lang="en-US" sz="1550" dirty="0"/>
          </a:p>
        </p:txBody>
      </p:sp>
      <p:sp>
        <p:nvSpPr>
          <p:cNvPr id="11" name="Text 9"/>
          <p:cNvSpPr/>
          <p:nvPr/>
        </p:nvSpPr>
        <p:spPr>
          <a:xfrm>
            <a:off x="7564874" y="331589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9495A"/>
                </a:solidFill>
                <a:latin typeface="Open Sans" pitchFamily="34" charset="0"/>
                <a:ea typeface="Open Sans" pitchFamily="34" charset="-122"/>
                <a:cs typeface="Open Sans" pitchFamily="34" charset="-120"/>
              </a:rPr>
              <a:t>Redux</a:t>
            </a:r>
            <a:endParaRPr lang="en-US" sz="1550" dirty="0"/>
          </a:p>
        </p:txBody>
      </p:sp>
      <p:sp>
        <p:nvSpPr>
          <p:cNvPr id="12" name="Text 10"/>
          <p:cNvSpPr/>
          <p:nvPr/>
        </p:nvSpPr>
        <p:spPr>
          <a:xfrm>
            <a:off x="7564874" y="383178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03CCF"/>
                </a:solidFill>
                <a:latin typeface="Libre Baskerville" pitchFamily="34" charset="0"/>
                <a:ea typeface="Libre Baskerville" pitchFamily="34" charset="-122"/>
                <a:cs typeface="Libre Baskerville" pitchFamily="34" charset="-120"/>
              </a:rPr>
              <a:t>Communication</a:t>
            </a:r>
            <a:endParaRPr lang="en-US" sz="1950" dirty="0"/>
          </a:p>
        </p:txBody>
      </p:sp>
      <p:sp>
        <p:nvSpPr>
          <p:cNvPr id="13" name="Text 11"/>
          <p:cNvSpPr/>
          <p:nvPr/>
        </p:nvSpPr>
        <p:spPr>
          <a:xfrm>
            <a:off x="7564874" y="434030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9495A"/>
                </a:solidFill>
                <a:latin typeface="Open Sans" pitchFamily="34" charset="0"/>
                <a:ea typeface="Open Sans" pitchFamily="34" charset="-122"/>
                <a:cs typeface="Open Sans" pitchFamily="34" charset="-120"/>
              </a:rPr>
              <a:t>Nodemailer (for Email Service)</a:t>
            </a:r>
            <a:endParaRPr lang="en-US" sz="1550" dirty="0"/>
          </a:p>
        </p:txBody>
      </p:sp>
      <p:sp>
        <p:nvSpPr>
          <p:cNvPr id="14" name="Text 12"/>
          <p:cNvSpPr/>
          <p:nvPr/>
        </p:nvSpPr>
        <p:spPr>
          <a:xfrm>
            <a:off x="7564874" y="472725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9495A"/>
                </a:solidFill>
                <a:latin typeface="Open Sans" pitchFamily="34" charset="0"/>
                <a:ea typeface="Open Sans" pitchFamily="34" charset="-122"/>
                <a:cs typeface="Open Sans" pitchFamily="34" charset="-120"/>
              </a:rPr>
              <a:t>RESTful APIs (for API Architecture)</a:t>
            </a:r>
            <a:endParaRPr lang="en-US" sz="1550" dirty="0"/>
          </a:p>
        </p:txBody>
      </p:sp>
      <p:sp>
        <p:nvSpPr>
          <p:cNvPr id="15" name="Text 13"/>
          <p:cNvSpPr/>
          <p:nvPr/>
        </p:nvSpPr>
        <p:spPr>
          <a:xfrm>
            <a:off x="793790" y="5337453"/>
            <a:ext cx="13042821" cy="1587698"/>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Nextronica's robust architecture is built upon a foundation of cutting-edge technologies. For the backend, we leverage the power of Node.js with both Express.js and Nest.js, alongside Java with Spring Boot, ensuring high performance and scalability. The frontend delivers a responsive and dynamic user experience, powered by React.js and Redux. All data is managed efficiently using MySQL. Communication is seamlessly handled through RESTful APIs, and critical functionalities like authentication and cart persistence are secured with JWT. Nodemailer integrates our email services for essential notifications.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350050"/>
            <a:ext cx="8425934" cy="620078"/>
          </a:xfrm>
          <a:prstGeom prst="rect">
            <a:avLst/>
          </a:prstGeom>
          <a:noFill/>
          <a:ln/>
        </p:spPr>
        <p:txBody>
          <a:bodyPr wrap="none" lIns="0" tIns="0" rIns="0" bIns="0" rtlCol="0" anchor="t"/>
          <a:lstStyle/>
          <a:p>
            <a:pPr marL="0" indent="0" algn="l">
              <a:lnSpc>
                <a:spcPts val="4850"/>
              </a:lnSpc>
              <a:buNone/>
            </a:pPr>
            <a:r>
              <a:rPr lang="en-US" sz="3900" dirty="0">
                <a:solidFill>
                  <a:srgbClr val="403CCF"/>
                </a:solidFill>
                <a:latin typeface="Libre Baskerville" pitchFamily="34" charset="0"/>
                <a:ea typeface="Libre Baskerville" pitchFamily="34" charset="-122"/>
                <a:cs typeface="Libre Baskerville" pitchFamily="34" charset="-120"/>
              </a:rPr>
              <a:t>Key Takeaways &amp; Future Outlook</a:t>
            </a:r>
            <a:endParaRPr lang="en-US" sz="3900" dirty="0"/>
          </a:p>
        </p:txBody>
      </p:sp>
      <p:sp>
        <p:nvSpPr>
          <p:cNvPr id="3" name="Text 1"/>
          <p:cNvSpPr/>
          <p:nvPr/>
        </p:nvSpPr>
        <p:spPr>
          <a:xfrm>
            <a:off x="793790" y="2466142"/>
            <a:ext cx="4182189" cy="654963"/>
          </a:xfrm>
          <a:prstGeom prst="rect">
            <a:avLst/>
          </a:prstGeom>
          <a:noFill/>
          <a:ln/>
        </p:spPr>
        <p:txBody>
          <a:bodyPr wrap="none" lIns="0" tIns="0" rIns="0" bIns="0" rtlCol="0" anchor="t"/>
          <a:lstStyle/>
          <a:p>
            <a:pPr marL="0" indent="0" algn="ctr">
              <a:lnSpc>
                <a:spcPts val="5150"/>
              </a:lnSpc>
              <a:buNone/>
            </a:pPr>
            <a:r>
              <a:rPr lang="en-US" sz="5150" dirty="0">
                <a:solidFill>
                  <a:srgbClr val="49495A"/>
                </a:solidFill>
                <a:latin typeface="Libre Baskerville" pitchFamily="34" charset="0"/>
                <a:ea typeface="Libre Baskerville" pitchFamily="34" charset="-122"/>
                <a:cs typeface="Libre Baskerville" pitchFamily="34" charset="-120"/>
              </a:rPr>
              <a:t>2</a:t>
            </a:r>
            <a:endParaRPr lang="en-US" sz="5150" dirty="0"/>
          </a:p>
        </p:txBody>
      </p:sp>
      <p:sp>
        <p:nvSpPr>
          <p:cNvPr id="4" name="Text 2"/>
          <p:cNvSpPr/>
          <p:nvPr/>
        </p:nvSpPr>
        <p:spPr>
          <a:xfrm>
            <a:off x="1635562" y="3369112"/>
            <a:ext cx="2498527" cy="310158"/>
          </a:xfrm>
          <a:prstGeom prst="rect">
            <a:avLst/>
          </a:prstGeom>
          <a:noFill/>
          <a:ln/>
        </p:spPr>
        <p:txBody>
          <a:bodyPr wrap="none" lIns="0" tIns="0" rIns="0" bIns="0" rtlCol="0" anchor="t"/>
          <a:lstStyle/>
          <a:p>
            <a:pPr marL="0" indent="0" algn="ctr">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Backend Languages</a:t>
            </a:r>
            <a:endParaRPr lang="en-US" sz="1950" dirty="0"/>
          </a:p>
        </p:txBody>
      </p:sp>
      <p:sp>
        <p:nvSpPr>
          <p:cNvPr id="5" name="Text 3"/>
          <p:cNvSpPr/>
          <p:nvPr/>
        </p:nvSpPr>
        <p:spPr>
          <a:xfrm>
            <a:off x="793790" y="3798332"/>
            <a:ext cx="4182189" cy="635079"/>
          </a:xfrm>
          <a:prstGeom prst="rect">
            <a:avLst/>
          </a:prstGeom>
          <a:noFill/>
          <a:ln/>
        </p:spPr>
        <p:txBody>
          <a:bodyPr wrap="square" lIns="0" tIns="0" rIns="0" bIns="0" rtlCol="0" anchor="t"/>
          <a:lstStyle/>
          <a:p>
            <a:pPr marL="0" indent="0" algn="ctr">
              <a:lnSpc>
                <a:spcPts val="2500"/>
              </a:lnSpc>
              <a:buNone/>
            </a:pPr>
            <a:r>
              <a:rPr lang="en-US" sz="1550" dirty="0">
                <a:solidFill>
                  <a:srgbClr val="49495A"/>
                </a:solidFill>
                <a:latin typeface="Open Sans" pitchFamily="34" charset="0"/>
                <a:ea typeface="Open Sans" pitchFamily="34" charset="-122"/>
                <a:cs typeface="Open Sans" pitchFamily="34" charset="-120"/>
              </a:rPr>
              <a:t>Node.js and Java provide robust and scalable solutions.</a:t>
            </a:r>
            <a:endParaRPr lang="en-US" sz="1550" dirty="0"/>
          </a:p>
        </p:txBody>
      </p:sp>
      <p:sp>
        <p:nvSpPr>
          <p:cNvPr id="6" name="Text 4"/>
          <p:cNvSpPr/>
          <p:nvPr/>
        </p:nvSpPr>
        <p:spPr>
          <a:xfrm>
            <a:off x="5223986" y="2466142"/>
            <a:ext cx="4182308" cy="654963"/>
          </a:xfrm>
          <a:prstGeom prst="rect">
            <a:avLst/>
          </a:prstGeom>
          <a:noFill/>
          <a:ln/>
        </p:spPr>
        <p:txBody>
          <a:bodyPr wrap="none" lIns="0" tIns="0" rIns="0" bIns="0" rtlCol="0" anchor="t"/>
          <a:lstStyle/>
          <a:p>
            <a:pPr marL="0" indent="0" algn="ctr">
              <a:lnSpc>
                <a:spcPts val="5150"/>
              </a:lnSpc>
              <a:buNone/>
            </a:pPr>
            <a:r>
              <a:rPr lang="en-US" sz="5150" dirty="0">
                <a:solidFill>
                  <a:srgbClr val="49495A"/>
                </a:solidFill>
                <a:latin typeface="Libre Baskerville" pitchFamily="34" charset="0"/>
                <a:ea typeface="Libre Baskerville" pitchFamily="34" charset="-122"/>
                <a:cs typeface="Libre Baskerville" pitchFamily="34" charset="-120"/>
              </a:rPr>
              <a:t>1</a:t>
            </a:r>
            <a:endParaRPr lang="en-US" sz="5150" dirty="0"/>
          </a:p>
        </p:txBody>
      </p:sp>
      <p:sp>
        <p:nvSpPr>
          <p:cNvPr id="7" name="Text 5"/>
          <p:cNvSpPr/>
          <p:nvPr/>
        </p:nvSpPr>
        <p:spPr>
          <a:xfrm>
            <a:off x="6074688" y="3369112"/>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Seamless Flow</a:t>
            </a:r>
            <a:endParaRPr lang="en-US" sz="1950" dirty="0"/>
          </a:p>
        </p:txBody>
      </p:sp>
      <p:sp>
        <p:nvSpPr>
          <p:cNvPr id="8" name="Text 6"/>
          <p:cNvSpPr/>
          <p:nvPr/>
        </p:nvSpPr>
        <p:spPr>
          <a:xfrm>
            <a:off x="5223986" y="3798332"/>
            <a:ext cx="4182308" cy="952619"/>
          </a:xfrm>
          <a:prstGeom prst="rect">
            <a:avLst/>
          </a:prstGeom>
          <a:noFill/>
          <a:ln/>
        </p:spPr>
        <p:txBody>
          <a:bodyPr wrap="square" lIns="0" tIns="0" rIns="0" bIns="0" rtlCol="0" anchor="t"/>
          <a:lstStyle/>
          <a:p>
            <a:pPr marL="0" indent="0" algn="ctr">
              <a:lnSpc>
                <a:spcPts val="2500"/>
              </a:lnSpc>
              <a:buNone/>
            </a:pPr>
            <a:r>
              <a:rPr lang="en-US" sz="1550" dirty="0">
                <a:solidFill>
                  <a:srgbClr val="49495A"/>
                </a:solidFill>
                <a:latin typeface="Open Sans" pitchFamily="34" charset="0"/>
                <a:ea typeface="Open Sans" pitchFamily="34" charset="-122"/>
                <a:cs typeface="Open Sans" pitchFamily="34" charset="-120"/>
              </a:rPr>
              <a:t>Persistent cart and automated order processing ensure a smooth user experience.</a:t>
            </a:r>
            <a:endParaRPr lang="en-US" sz="1550" dirty="0"/>
          </a:p>
        </p:txBody>
      </p:sp>
      <p:sp>
        <p:nvSpPr>
          <p:cNvPr id="9" name="Text 7"/>
          <p:cNvSpPr/>
          <p:nvPr/>
        </p:nvSpPr>
        <p:spPr>
          <a:xfrm>
            <a:off x="9654302" y="2466142"/>
            <a:ext cx="4182308" cy="654963"/>
          </a:xfrm>
          <a:prstGeom prst="rect">
            <a:avLst/>
          </a:prstGeom>
          <a:noFill/>
          <a:ln/>
        </p:spPr>
        <p:txBody>
          <a:bodyPr wrap="none" lIns="0" tIns="0" rIns="0" bIns="0" rtlCol="0" anchor="t"/>
          <a:lstStyle/>
          <a:p>
            <a:pPr marL="0" indent="0" algn="ctr">
              <a:lnSpc>
                <a:spcPts val="5150"/>
              </a:lnSpc>
              <a:buNone/>
            </a:pPr>
            <a:r>
              <a:rPr lang="en-US" sz="5150" dirty="0">
                <a:solidFill>
                  <a:srgbClr val="49495A"/>
                </a:solidFill>
                <a:latin typeface="Libre Baskerville" pitchFamily="34" charset="0"/>
                <a:ea typeface="Libre Baskerville" pitchFamily="34" charset="-122"/>
                <a:cs typeface="Libre Baskerville" pitchFamily="34" charset="-120"/>
              </a:rPr>
              <a:t>1</a:t>
            </a:r>
            <a:endParaRPr lang="en-US" sz="5150" dirty="0"/>
          </a:p>
        </p:txBody>
      </p:sp>
      <p:sp>
        <p:nvSpPr>
          <p:cNvPr id="10" name="Text 8"/>
          <p:cNvSpPr/>
          <p:nvPr/>
        </p:nvSpPr>
        <p:spPr>
          <a:xfrm>
            <a:off x="10505003" y="3369112"/>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Transparency</a:t>
            </a:r>
            <a:endParaRPr lang="en-US" sz="1950" dirty="0"/>
          </a:p>
        </p:txBody>
      </p:sp>
      <p:sp>
        <p:nvSpPr>
          <p:cNvPr id="11" name="Text 9"/>
          <p:cNvSpPr/>
          <p:nvPr/>
        </p:nvSpPr>
        <p:spPr>
          <a:xfrm>
            <a:off x="9654302" y="3798332"/>
            <a:ext cx="4182308" cy="635079"/>
          </a:xfrm>
          <a:prstGeom prst="rect">
            <a:avLst/>
          </a:prstGeom>
          <a:noFill/>
          <a:ln/>
        </p:spPr>
        <p:txBody>
          <a:bodyPr wrap="square" lIns="0" tIns="0" rIns="0" bIns="0" rtlCol="0" anchor="t"/>
          <a:lstStyle/>
          <a:p>
            <a:pPr marL="0" indent="0" algn="ctr">
              <a:lnSpc>
                <a:spcPts val="2500"/>
              </a:lnSpc>
              <a:buNone/>
            </a:pPr>
            <a:r>
              <a:rPr lang="en-US" sz="1550" dirty="0">
                <a:solidFill>
                  <a:srgbClr val="49495A"/>
                </a:solidFill>
                <a:latin typeface="Open Sans" pitchFamily="34" charset="0"/>
                <a:ea typeface="Open Sans" pitchFamily="34" charset="-122"/>
                <a:cs typeface="Open Sans" pitchFamily="34" charset="-120"/>
              </a:rPr>
              <a:t>Dynamic profit calculation and clear pricing for users and providers.</a:t>
            </a:r>
            <a:endParaRPr lang="en-US" sz="1550" dirty="0"/>
          </a:p>
        </p:txBody>
      </p:sp>
      <p:sp>
        <p:nvSpPr>
          <p:cNvPr id="12" name="Text 10"/>
          <p:cNvSpPr/>
          <p:nvPr/>
        </p:nvSpPr>
        <p:spPr>
          <a:xfrm>
            <a:off x="793790" y="4974193"/>
            <a:ext cx="13042821" cy="1905238"/>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Nextronica is poised to redefine the electronics e-commerce landscape with its powerful technological stack and user-centric design. By combining the flexibility of Node.js and the stability of Java in our backend, we ensure a highly scalable and reliable platform. The seamless user flow, from persistent cart management to automated order processing and provider interaction, guarantees an unparalleled shopping journey. Our commitment to transparency, through dynamic profit calculation and clear pricing, fosters trust with both users and sellers. Moving forward, Nextronica aims to continuously innovate, enhance features, and expand its reach, solidifying its position as a leading platform in the electronics market.</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1105</Words>
  <Application>Microsoft Office PowerPoint</Application>
  <PresentationFormat>Custom</PresentationFormat>
  <Paragraphs>91</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Open Sans</vt:lpstr>
      <vt:lpstr>Libre Baskerville</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Eslam Sabry</cp:lastModifiedBy>
  <cp:revision>3</cp:revision>
  <dcterms:created xsi:type="dcterms:W3CDTF">2025-06-14T03:22:55Z</dcterms:created>
  <dcterms:modified xsi:type="dcterms:W3CDTF">2025-06-14T23:52:59Z</dcterms:modified>
</cp:coreProperties>
</file>